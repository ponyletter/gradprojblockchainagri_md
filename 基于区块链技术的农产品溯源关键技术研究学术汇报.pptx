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专家、各位老师，大家上午好。今天我汇报的题目是“基于区块链技术的农产品溯源关键技术研究”。这项研究聚焦于如何利用前沿的区块链技术，解决农产品溯源领域的实际问题。我的汇报将围绕这项研究的背景、目标、核心技术以及初步成果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首先来看研究的背景与痛点，也就是传统农产品溯源模式的局限性。当前，农产品供应链条长、环节多，传统中心化存储模式导致信息孤岛严重，数据易被篡改，消费者难以信任。例如，新疆特色农产品如阿克苏苹果，就常面临品牌保护难、假冒伪劣频发的问题。而区块链技术凭借其去中心化、不可篡改的特性，为构建一个可信的溯源体系提供了重要的技术机遇。接下来，我们将探讨如何利用这一机遇来解决这些痛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基于这些痛点，我们的研究目标非常明确：构建一个基于 Hyperledger Fabric 联盟链的农产品全生命周期溯源体系。为此，我们设定了三个关键任务。首先，我们要攻克国密算法在区块链底层的适配难题，实现核心算法的国产化替代。其次，针对海量多媒体数据存储瓶颈，我们引入 IPFS 进行链下存储，优化了存储模型。最后，我们开发了一个涵盖生产、加工、销售全环节的溯源原型系统，并进行了实地验证。这些工作共同支撑了我们构建可信溯源体系的愿景。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为了实现上述目标，我们设计了清晰的总体技术路线与架构。我们的技术路径遵循了从需求分析到实验验证的完整流程。在架构设计上，底层我们采用了 Fabric 结合国密改造的 BCCSP 模块。存储方面，我们创新性地采用了区块链与 IPFS 的双存储模型，兼顾了效率与安全性。应用层则通过 Gin、Vue3 和移动端小程序，实现了多端协同。这张图清晰地展示了我们系统设计的蓝图，确保了研究的系统性和可行性。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在整个研究中，国密算法在 Fabric 中的适配实现是我们的核心攻关点。我们重构了 Fabric 的 BCCSP 模块，实现了国密算法的插件化加载与动态切换，确保了底层加密逻辑与上层业务的解耦。具体来说，我们用 SM2 替换了 ECDSA 进行身份认证和签名，用 SM3 替换了 SHA256 进行哈希计算，并用 SM4 替换了 AES 进行数据加密。这项工作不仅提升了系统的安全性，更满足了国内信息安全自主可控的要求。接下来，我们将看到这项核心攻关的性能评估结果。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国密算法适配完成后，我们对它的性能进行了严谨的评估与验证。我们首先通过单元测试，验证了SM2签名、验签以及SM3哈希等接口的正确性，确保了国密算法在Fabric底层运行的稳定可靠。尽管国密算法的时间开销略高于原生算法，但它们都保持在毫秒级别，这完全能够满足农产品供应链实时溯源的性能需求。这表明我们在保障信息安全自主可控的同时，也兼顾了系统的实用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接下来，我们进入了系统实现阶段，成功部署了Hyperledger Fabric业务网络。我们设计了多组织架构，模拟了种植商、加工商和物流商等多方参与的联盟链环境。同时，我们利用Channel通道技术，实现了不同业务数据的逻辑隔离，有效保障了敏感信息的安全性。整个系统基于Docker容器化部署，Orderer和Peer节点均已成功启动，溯源合约也已实例化，为后续的应用层开发奠定了坚实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在系统实现方面，我们开发了Web管理端和移动端溯源界面，为用户提供了便捷的操作体验。企业管理端基于Vue3和Element Plus开发，支持种植户和加工商轻松录入农产品信息并一键上链。消费者则可以通过移动端小程序扫码查询，直观地了解农产品的全生命周期信息。我们还特别展示了区块哈希和上链时间，以此增强消费者对溯源信息的信任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展示了系统的具体实现后，我们来看看目前取得的阶段性成果。这些成果不仅体现在学术研究上，也体现在知识产权的积累上。我们已有一篇普刊论文被《安徽农学通报》录用，这篇论文深入探讨了新疆特色农产品在区块链环境下的可信存证与溯源路径。同时，我们在知识产权方面也取得了进展，一项软件著作权已获授权，另有两项软著和一项实用新型专利正在审查中。这些成果都为我们后续的研究和应用奠定了坚实的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当然，任何研究都会面临挑战，我们的项目也不例外。目前，我们发现高并发场景下的性能瓶颈尚未量化，应用层SDK对国密算法的封装深度也有待提升，同时监管审计功能仍需完善。针对这些问题，我们制定了详细的下一步计划。我们将引入Caliper进行压力测试，优化共识瓶颈，并完善系统全功能集成测试。同时，我们也将着手学位论文的撰写，并基于ECharts开发可视化监管大屏。这些计划将确保我们能够持续优化系统，并按时完成学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我想向我的导师张楠楠教授表示最诚挚的感谢，感谢她一直以来的悉心指导和帮助。同时，也要感谢各位评审专家和老师，感谢你们抽出宝贵时间来听取我的汇报，并给予宝贵的意见。我们坚信，通过技术创新，我们能够更好地守护舌尖上的安全。再次感谢大家，欢迎各位提出宝贵意见和建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14.jpe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jpe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1.xml"/><Relationship Id="rId7" Type="http://schemas.openxmlformats.org/officeDocument/2006/relationships/image" Target="../media/image29.png"/><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9.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jpe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43.png"/><Relationship Id="rId1" Type="http://schemas.openxmlformats.org/officeDocument/2006/relationships/image" Target="../media/image4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2"/>
          <a:stretch>
            <a:fillRect/>
          </a:stretch>
        </p:blipFill>
        <p:spPr>
          <a:xfrm rot="-900000">
            <a:off x="-285750" y="4143375"/>
            <a:ext cx="1285875" cy="1285875"/>
          </a:xfrm>
          <a:prstGeom prst="rect">
            <a:avLst/>
          </a:prstGeom>
        </p:spPr>
      </p:pic>
      <p:sp>
        <p:nvSpPr>
          <p:cNvPr id="5" name="Text 0"/>
          <p:cNvSpPr/>
          <p:nvPr/>
        </p:nvSpPr>
        <p:spPr>
          <a:xfrm>
            <a:off x="428625" y="1125280"/>
            <a:ext cx="5229225" cy="960109"/>
          </a:xfrm>
          <a:prstGeom prst="rect">
            <a:avLst/>
          </a:prstGeom>
          <a:noFill/>
        </p:spPr>
        <p:txBody>
          <a:bodyPr wrap="square" lIns="0" tIns="0" rIns="0" bIns="0" rtlCol="0" anchor="t">
            <a:spAutoFit/>
          </a:bodyPr>
          <a:lstStyle/>
          <a:p>
            <a:pPr marL="0" indent="0" algn="l">
              <a:lnSpc>
                <a:spcPts val="3800"/>
              </a:lnSpc>
              <a:buNone/>
            </a:pPr>
            <a:r>
              <a:rPr lang="en-US" sz="2860" b="1" dirty="0">
                <a:solidFill>
                  <a:srgbClr val="2E5902"/>
                </a:solidFill>
                <a:latin typeface="Merriweather" pitchFamily="34" charset="0"/>
                <a:ea typeface="Merriweather" pitchFamily="34" charset="-122"/>
                <a:cs typeface="Merriweather" pitchFamily="34" charset="-120"/>
              </a:rPr>
              <a:t>基于区块链技术的农产品</a:t>
            </a:r>
            <a:r>
              <a:rPr lang="en-US" sz="2860" b="1" dirty="0">
                <a:solidFill>
                  <a:srgbClr val="2E5902"/>
                </a:solidFill>
                <a:latin typeface="Merriweather" pitchFamily="34" charset="0"/>
                <a:ea typeface="Merriweather" pitchFamily="34" charset="-122"/>
                <a:cs typeface="Merriweather" pitchFamily="34" charset="-120"/>
              </a:rPr>
              <a:t>
</a:t>
            </a:r>
            <a:r>
              <a:rPr lang="en-US" sz="2860" b="1" dirty="0">
                <a:solidFill>
                  <a:srgbClr val="2E5902"/>
                </a:solidFill>
                <a:latin typeface="Merriweather" pitchFamily="34" charset="0"/>
                <a:ea typeface="Merriweather" pitchFamily="34" charset="-122"/>
                <a:cs typeface="Merriweather" pitchFamily="34" charset="-120"/>
              </a:rPr>
              <a:t>溯源关键技术研究</a:t>
            </a:r>
            <a:endParaRPr lang="en-US" sz="2860" dirty="0"/>
          </a:p>
        </p:txBody>
      </p:sp>
      <p:sp>
        <p:nvSpPr>
          <p:cNvPr id="6" name="Text 1"/>
          <p:cNvSpPr/>
          <p:nvPr/>
        </p:nvSpPr>
        <p:spPr>
          <a:xfrm>
            <a:off x="428625" y="2275117"/>
            <a:ext cx="5229225" cy="332184"/>
          </a:xfrm>
          <a:prstGeom prst="rect">
            <a:avLst/>
          </a:prstGeom>
          <a:noFill/>
        </p:spPr>
        <p:txBody>
          <a:bodyPr wrap="none" lIns="0" tIns="0" rIns="0" bIns="0" rtlCol="0" anchor="t">
            <a:spAutoFit/>
          </a:bodyPr>
          <a:lstStyle/>
          <a:p>
            <a:pPr marL="0" indent="0" algn="l">
              <a:lnSpc>
                <a:spcPts val="2200"/>
              </a:lnSpc>
              <a:buNone/>
            </a:pPr>
            <a:r>
              <a:rPr lang="en-US" sz="1600" b="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塔里木大学研究生学术报告</a:t>
            </a:r>
            <a:endParaRPr lang="en-US" sz="1600" dirty="0"/>
          </a:p>
        </p:txBody>
      </p:sp>
      <p:sp>
        <p:nvSpPr>
          <p:cNvPr id="7" name="Text 2"/>
          <p:cNvSpPr/>
          <p:nvPr/>
        </p:nvSpPr>
        <p:spPr>
          <a:xfrm>
            <a:off x="428625" y="2950201"/>
            <a:ext cx="2571750"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汇报人：</a:t>
            </a:r>
            <a:r>
              <a:rPr lang="en-US" sz="105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柏小康</a:t>
            </a:r>
            <a:endParaRPr lang="en-US" sz="1050" dirty="0"/>
          </a:p>
        </p:txBody>
      </p:sp>
      <p:sp>
        <p:nvSpPr>
          <p:cNvPr id="8" name="Text 3"/>
          <p:cNvSpPr/>
          <p:nvPr/>
        </p:nvSpPr>
        <p:spPr>
          <a:xfrm>
            <a:off x="3086100" y="2950201"/>
            <a:ext cx="2571750"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导师：</a:t>
            </a:r>
            <a:r>
              <a:rPr lang="en-US" sz="105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张楠楠 教授</a:t>
            </a:r>
            <a:endParaRPr lang="en-US" sz="1050" dirty="0"/>
          </a:p>
        </p:txBody>
      </p:sp>
      <p:sp>
        <p:nvSpPr>
          <p:cNvPr id="9" name="Text 4"/>
          <p:cNvSpPr/>
          <p:nvPr/>
        </p:nvSpPr>
        <p:spPr>
          <a:xfrm>
            <a:off x="428625" y="3300245"/>
            <a:ext cx="2571750"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专业：</a:t>
            </a:r>
            <a:r>
              <a:rPr lang="en-US" sz="105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农业工程与信息技术</a:t>
            </a:r>
            <a:endParaRPr lang="en-US" sz="1050" dirty="0"/>
          </a:p>
        </p:txBody>
      </p:sp>
      <p:sp>
        <p:nvSpPr>
          <p:cNvPr id="10" name="Text 5"/>
          <p:cNvSpPr/>
          <p:nvPr/>
        </p:nvSpPr>
        <p:spPr>
          <a:xfrm>
            <a:off x="3086100" y="3300245"/>
            <a:ext cx="2571750"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日期：</a:t>
            </a:r>
            <a:r>
              <a:rPr lang="en-US" sz="105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2026年3月</a:t>
            </a:r>
            <a:endParaRPr lang="en-US" sz="1050" dirty="0"/>
          </a:p>
        </p:txBody>
      </p:sp>
      <p:sp>
        <p:nvSpPr>
          <p:cNvPr id="11" name="Shape 6"/>
          <p:cNvSpPr/>
          <p:nvPr/>
        </p:nvSpPr>
        <p:spPr>
          <a:xfrm>
            <a:off x="5657850" y="0"/>
            <a:ext cx="3486150" cy="5143500"/>
          </a:xfrm>
          <a:prstGeom prst="rect">
            <a:avLst/>
          </a:prstGeom>
          <a:solidFill>
            <a:srgbClr val="2E5902"/>
          </a:solidFill>
        </p:spPr>
      </p:sp>
      <p:sp>
        <p:nvSpPr>
          <p:cNvPr id="12" name="Shape 7"/>
          <p:cNvSpPr/>
          <p:nvPr/>
        </p:nvSpPr>
        <p:spPr>
          <a:xfrm>
            <a:off x="6515100" y="1668959"/>
            <a:ext cx="1771650" cy="1805583"/>
          </a:xfrm>
          <a:prstGeom prst="ellipse">
            <a:avLst/>
          </a:prstGeom>
          <a:solidFill>
            <a:srgbClr val="FFFFFF"/>
          </a:solidFill>
        </p:spPr>
      </p:sp>
      <p:pic>
        <p:nvPicPr>
          <p:cNvPr id="13" name="Image 2" descr="preencoded.png"/>
          <p:cNvPicPr>
            <a:picLocks noChangeAspect="1"/>
          </p:cNvPicPr>
          <p:nvPr/>
        </p:nvPicPr>
        <p:blipFill>
          <a:blip r:embed="rId3"/>
          <a:stretch>
            <a:fillRect/>
          </a:stretch>
        </p:blipFill>
        <p:spPr>
          <a:xfrm>
            <a:off x="6686550" y="1840409"/>
            <a:ext cx="1428750" cy="14287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p:spPr>
        <p:txBody>
          <a:bodyPr wrap="none" lIns="0" tIns="0" rIns="0" bIns="0" rtlCol="0" anchor="t">
            <a:spAutoFit/>
          </a:bodyPr>
          <a:lstStyle/>
          <a:p>
            <a:pPr marL="0" indent="0" algn="l">
              <a:lnSpc>
                <a:spcPts val="2700"/>
              </a:lnSpc>
              <a:buNone/>
            </a:pPr>
            <a:r>
              <a:rPr lang="en-US" sz="2015" b="1" dirty="0">
                <a:solidFill>
                  <a:srgbClr val="2E5902"/>
                </a:solidFill>
                <a:latin typeface="Merriweather" pitchFamily="34" charset="0"/>
                <a:ea typeface="Merriweather" pitchFamily="34" charset="-122"/>
                <a:cs typeface="Merriweather" pitchFamily="34" charset="-120"/>
              </a:rPr>
              <a:t>研究背景与痛点：传统模式的局限性</a:t>
            </a:r>
            <a:endParaRPr lang="en-US" sz="2015" dirty="0"/>
          </a:p>
        </p:txBody>
      </p:sp>
      <p:pic>
        <p:nvPicPr>
          <p:cNvPr id="5" name="Image 1" descr="preencoded.png"/>
          <p:cNvPicPr>
            <a:picLocks noChangeAspect="1"/>
          </p:cNvPicPr>
          <p:nvPr/>
        </p:nvPicPr>
        <p:blipFill>
          <a:blip r:embed="rId2"/>
          <a:stretch>
            <a:fillRect/>
          </a:stretch>
        </p:blipFill>
        <p:spPr>
          <a:xfrm>
            <a:off x="571500" y="1285875"/>
            <a:ext cx="171450" cy="192881"/>
          </a:xfrm>
          <a:prstGeom prst="rect">
            <a:avLst/>
          </a:prstGeom>
        </p:spPr>
      </p:pic>
      <p:sp>
        <p:nvSpPr>
          <p:cNvPr id="6" name="Text 1"/>
          <p:cNvSpPr/>
          <p:nvPr/>
        </p:nvSpPr>
        <p:spPr>
          <a:xfrm>
            <a:off x="857250" y="1285875"/>
            <a:ext cx="3714750" cy="248245"/>
          </a:xfrm>
          <a:prstGeom prst="rect">
            <a:avLst/>
          </a:prstGeom>
          <a:noFill/>
        </p:spPr>
        <p:txBody>
          <a:bodyPr wrap="none" lIns="0" tIns="0" rIns="0" bIns="0" rtlCol="0" anchor="t">
            <a:spAutoFit/>
          </a:bodyPr>
          <a:lstStyle/>
          <a:p>
            <a:pPr marL="0" indent="0" algn="l">
              <a:lnSpc>
                <a:spcPts val="1600"/>
              </a:lnSpc>
              <a:buNone/>
            </a:pPr>
            <a:r>
              <a:rPr lang="en-US" sz="1195" b="1" dirty="0">
                <a:solidFill>
                  <a:srgbClr val="2E5902"/>
                </a:solidFill>
                <a:latin typeface="Merriweather" pitchFamily="34" charset="0"/>
                <a:ea typeface="Merriweather" pitchFamily="34" charset="-122"/>
                <a:cs typeface="Merriweather" pitchFamily="34" charset="-120"/>
              </a:rPr>
              <a:t>行业痛点：信息孤岛</a:t>
            </a:r>
            <a:endParaRPr lang="en-US" sz="1195" dirty="0"/>
          </a:p>
        </p:txBody>
      </p:sp>
      <p:sp>
        <p:nvSpPr>
          <p:cNvPr id="7" name="Text 2"/>
          <p:cNvSpPr/>
          <p:nvPr/>
        </p:nvSpPr>
        <p:spPr>
          <a:xfrm>
            <a:off x="857250" y="1591270"/>
            <a:ext cx="3714750" cy="411435"/>
          </a:xfrm>
          <a:prstGeom prst="rect">
            <a:avLst/>
          </a:prstGeom>
          <a:noFill/>
        </p:spPr>
        <p:txBody>
          <a:bodyPr wrap="square" lIns="0" tIns="0" rIns="0" bIns="0" rtlCol="0" anchor="t">
            <a:spAutoFit/>
          </a:bodyPr>
          <a:lstStyle/>
          <a:p>
            <a:pPr marL="0" indent="0" algn="l">
              <a:lnSpc>
                <a:spcPts val="16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农产品供应链长、环节多，传统中心化存储方式导致各环节数据难以互通，形成严重的信息孤岛。</a:t>
            </a:r>
            <a:endParaRPr lang="en-US" sz="940" dirty="0"/>
          </a:p>
        </p:txBody>
      </p:sp>
      <p:pic>
        <p:nvPicPr>
          <p:cNvPr id="8" name="Image 2" descr="preencoded.png"/>
          <p:cNvPicPr>
            <a:picLocks noChangeAspect="1"/>
          </p:cNvPicPr>
          <p:nvPr/>
        </p:nvPicPr>
        <p:blipFill>
          <a:blip r:embed="rId3"/>
          <a:stretch>
            <a:fillRect/>
          </a:stretch>
        </p:blipFill>
        <p:spPr>
          <a:xfrm>
            <a:off x="571500" y="2259881"/>
            <a:ext cx="171450" cy="192881"/>
          </a:xfrm>
          <a:prstGeom prst="rect">
            <a:avLst/>
          </a:prstGeom>
        </p:spPr>
      </p:pic>
      <p:sp>
        <p:nvSpPr>
          <p:cNvPr id="9" name="Text 3"/>
          <p:cNvSpPr/>
          <p:nvPr/>
        </p:nvSpPr>
        <p:spPr>
          <a:xfrm>
            <a:off x="857250" y="2259881"/>
            <a:ext cx="3714750" cy="248245"/>
          </a:xfrm>
          <a:prstGeom prst="rect">
            <a:avLst/>
          </a:prstGeom>
          <a:noFill/>
        </p:spPr>
        <p:txBody>
          <a:bodyPr wrap="none" lIns="0" tIns="0" rIns="0" bIns="0" rtlCol="0" anchor="t">
            <a:spAutoFit/>
          </a:bodyPr>
          <a:lstStyle/>
          <a:p>
            <a:pPr marL="0" indent="0" algn="l">
              <a:lnSpc>
                <a:spcPts val="1600"/>
              </a:lnSpc>
              <a:buNone/>
            </a:pPr>
            <a:r>
              <a:rPr lang="en-US" sz="1195" b="1" dirty="0">
                <a:solidFill>
                  <a:srgbClr val="2E5902"/>
                </a:solidFill>
                <a:latin typeface="Merriweather" pitchFamily="34" charset="0"/>
                <a:ea typeface="Merriweather" pitchFamily="34" charset="-122"/>
                <a:cs typeface="Merriweather" pitchFamily="34" charset="-120"/>
              </a:rPr>
              <a:t>安全隐患：数据易篡改</a:t>
            </a:r>
            <a:endParaRPr lang="en-US" sz="1195" dirty="0"/>
          </a:p>
        </p:txBody>
      </p:sp>
      <p:sp>
        <p:nvSpPr>
          <p:cNvPr id="10" name="Text 4"/>
          <p:cNvSpPr/>
          <p:nvPr/>
        </p:nvSpPr>
        <p:spPr>
          <a:xfrm>
            <a:off x="857250" y="2565276"/>
            <a:ext cx="3714750" cy="411435"/>
          </a:xfrm>
          <a:prstGeom prst="rect">
            <a:avLst/>
          </a:prstGeom>
          <a:noFill/>
        </p:spPr>
        <p:txBody>
          <a:bodyPr wrap="square" lIns="0" tIns="0" rIns="0" bIns="0" rtlCol="0" anchor="t">
            <a:spAutoFit/>
          </a:bodyPr>
          <a:lstStyle/>
          <a:p>
            <a:pPr marL="0" indent="0" algn="l">
              <a:lnSpc>
                <a:spcPts val="16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中心化数据库缺乏透明度，数据容易被恶意篡改，消费者难以验证阿克苏苹果等特色产品的真实性。</a:t>
            </a:r>
            <a:endParaRPr lang="en-US" sz="940" dirty="0"/>
          </a:p>
        </p:txBody>
      </p:sp>
      <p:pic>
        <p:nvPicPr>
          <p:cNvPr id="11" name="Image 3" descr="preencoded.png"/>
          <p:cNvPicPr>
            <a:picLocks noChangeAspect="1"/>
          </p:cNvPicPr>
          <p:nvPr/>
        </p:nvPicPr>
        <p:blipFill>
          <a:blip r:embed="rId4"/>
          <a:stretch>
            <a:fillRect/>
          </a:stretch>
        </p:blipFill>
        <p:spPr>
          <a:xfrm>
            <a:off x="571500" y="3233886"/>
            <a:ext cx="214313" cy="192881"/>
          </a:xfrm>
          <a:prstGeom prst="rect">
            <a:avLst/>
          </a:prstGeom>
        </p:spPr>
      </p:pic>
      <p:sp>
        <p:nvSpPr>
          <p:cNvPr id="12" name="Text 5"/>
          <p:cNvSpPr/>
          <p:nvPr/>
        </p:nvSpPr>
        <p:spPr>
          <a:xfrm>
            <a:off x="900113" y="3233886"/>
            <a:ext cx="3671888" cy="248245"/>
          </a:xfrm>
          <a:prstGeom prst="rect">
            <a:avLst/>
          </a:prstGeom>
          <a:noFill/>
        </p:spPr>
        <p:txBody>
          <a:bodyPr wrap="none" lIns="0" tIns="0" rIns="0" bIns="0" rtlCol="0" anchor="t">
            <a:spAutoFit/>
          </a:bodyPr>
          <a:lstStyle/>
          <a:p>
            <a:pPr marL="0" indent="0" algn="l">
              <a:lnSpc>
                <a:spcPts val="1600"/>
              </a:lnSpc>
              <a:buNone/>
            </a:pPr>
            <a:r>
              <a:rPr lang="en-US" sz="1195" b="1" dirty="0">
                <a:solidFill>
                  <a:srgbClr val="2E5902"/>
                </a:solidFill>
                <a:latin typeface="Merriweather" pitchFamily="34" charset="0"/>
                <a:ea typeface="Merriweather" pitchFamily="34" charset="-122"/>
                <a:cs typeface="Merriweather" pitchFamily="34" charset="-120"/>
              </a:rPr>
              <a:t>技术机遇：区块链赋能</a:t>
            </a:r>
            <a:endParaRPr lang="en-US" sz="1195" dirty="0"/>
          </a:p>
        </p:txBody>
      </p:sp>
      <p:sp>
        <p:nvSpPr>
          <p:cNvPr id="13" name="Text 6"/>
          <p:cNvSpPr/>
          <p:nvPr/>
        </p:nvSpPr>
        <p:spPr>
          <a:xfrm>
            <a:off x="900113" y="3539282"/>
            <a:ext cx="3671888" cy="411435"/>
          </a:xfrm>
          <a:prstGeom prst="rect">
            <a:avLst/>
          </a:prstGeom>
          <a:noFill/>
        </p:spPr>
        <p:txBody>
          <a:bodyPr wrap="square" lIns="0" tIns="0" rIns="0" bIns="0" rtlCol="0" anchor="t">
            <a:spAutoFit/>
          </a:bodyPr>
          <a:lstStyle/>
          <a:p>
            <a:pPr marL="0" indent="0" algn="l">
              <a:lnSpc>
                <a:spcPts val="16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区块链的去中心化与不可篡改特性，为构建全流程可信溯源体系提供了理想的技术支撑。</a:t>
            </a:r>
            <a:endParaRPr lang="en-US" sz="940" dirty="0"/>
          </a:p>
        </p:txBody>
      </p:sp>
      <p:pic>
        <p:nvPicPr>
          <p:cNvPr id="14" name="Image 4" descr="preencoded.png"/>
          <p:cNvPicPr>
            <a:picLocks noChangeAspect="1"/>
          </p:cNvPicPr>
          <p:nvPr/>
        </p:nvPicPr>
        <p:blipFill>
          <a:blip r:embed="rId5"/>
          <a:stretch>
            <a:fillRect/>
          </a:stretch>
        </p:blipFill>
        <p:spPr>
          <a:xfrm>
            <a:off x="4786313" y="1157288"/>
            <a:ext cx="3571875" cy="2428875"/>
          </a:xfrm>
          <a:prstGeom prst="rect">
            <a:avLst/>
          </a:prstGeom>
        </p:spPr>
      </p:pic>
      <p:sp>
        <p:nvSpPr>
          <p:cNvPr id="15" name="Text 7"/>
          <p:cNvSpPr/>
          <p:nvPr/>
        </p:nvSpPr>
        <p:spPr>
          <a:xfrm>
            <a:off x="4786313" y="3677245"/>
            <a:ext cx="3571875" cy="144661"/>
          </a:xfrm>
          <a:prstGeom prst="rect">
            <a:avLst/>
          </a:prstGeom>
          <a:noFill/>
        </p:spPr>
        <p:txBody>
          <a:bodyPr wrap="none" lIns="0" tIns="0" rIns="0" bIns="0" rtlCol="0" anchor="t">
            <a:spAutoFit/>
          </a:bodyPr>
          <a:lstStyle/>
          <a:p>
            <a:pPr marL="0" indent="0" algn="ctr">
              <a:lnSpc>
                <a:spcPts val="900"/>
              </a:lnSpc>
              <a:buNone/>
            </a:pPr>
            <a:r>
              <a:rPr lang="en-US" sz="725"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图：传统农产品中心化溯源模式示意</a:t>
            </a:r>
            <a:endParaRPr lang="en-US" sz="7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p:spPr>
        <p:txBody>
          <a:bodyPr wrap="none" lIns="0" tIns="0" rIns="0" bIns="0" rtlCol="0" anchor="t">
            <a:spAutoFit/>
          </a:bodyPr>
          <a:lstStyle/>
          <a:p>
            <a:pPr marL="0" indent="0" algn="l">
              <a:lnSpc>
                <a:spcPts val="2700"/>
              </a:lnSpc>
              <a:buNone/>
            </a:pPr>
            <a:r>
              <a:rPr lang="en-US" sz="2015" b="1" dirty="0">
                <a:solidFill>
                  <a:srgbClr val="2E5902"/>
                </a:solidFill>
                <a:latin typeface="Merriweather" pitchFamily="34" charset="0"/>
                <a:ea typeface="Merriweather" pitchFamily="34" charset="-122"/>
                <a:cs typeface="Merriweather" pitchFamily="34" charset="-120"/>
              </a:rPr>
              <a:t>研究目标与主要内容：构建可信溯源体系</a:t>
            </a:r>
            <a:endParaRPr lang="en-US" sz="2015" dirty="0"/>
          </a:p>
        </p:txBody>
      </p:sp>
      <p:pic>
        <p:nvPicPr>
          <p:cNvPr id="5" name="Image 1" descr="preencoded.png"/>
          <p:cNvPicPr>
            <a:picLocks noChangeAspect="1"/>
          </p:cNvPicPr>
          <p:nvPr/>
        </p:nvPicPr>
        <p:blipFill>
          <a:blip r:embed="rId2"/>
          <a:stretch>
            <a:fillRect/>
          </a:stretch>
        </p:blipFill>
        <p:spPr>
          <a:xfrm>
            <a:off x="1357313" y="1050131"/>
            <a:ext cx="6429375" cy="1285875"/>
          </a:xfrm>
          <a:prstGeom prst="rect">
            <a:avLst/>
          </a:prstGeom>
        </p:spPr>
      </p:pic>
      <p:pic>
        <p:nvPicPr>
          <p:cNvPr id="6" name="Image 2" descr="preencoded.png"/>
          <p:cNvPicPr>
            <a:picLocks noChangeAspect="1"/>
          </p:cNvPicPr>
          <p:nvPr/>
        </p:nvPicPr>
        <p:blipFill>
          <a:blip r:embed="rId3"/>
          <a:stretch>
            <a:fillRect/>
          </a:stretch>
        </p:blipFill>
        <p:spPr>
          <a:xfrm>
            <a:off x="428625" y="2492276"/>
            <a:ext cx="200025" cy="200025"/>
          </a:xfrm>
          <a:prstGeom prst="rect">
            <a:avLst/>
          </a:prstGeom>
        </p:spPr>
      </p:pic>
      <p:sp>
        <p:nvSpPr>
          <p:cNvPr id="7" name="Text 1"/>
          <p:cNvSpPr/>
          <p:nvPr/>
        </p:nvSpPr>
        <p:spPr>
          <a:xfrm>
            <a:off x="714375" y="2478881"/>
            <a:ext cx="1100138" cy="226814"/>
          </a:xfrm>
          <a:prstGeom prst="rect">
            <a:avLst/>
          </a:prstGeom>
          <a:noFill/>
        </p:spPr>
        <p:txBody>
          <a:bodyPr wrap="none" lIns="0" tIns="0" rIns="0" bIns="0" rtlCol="0" anchor="t">
            <a:spAutoFit/>
          </a:bodyPr>
          <a:lstStyle/>
          <a:p>
            <a:pPr marL="0" indent="0" algn="l">
              <a:lnSpc>
                <a:spcPts val="1500"/>
              </a:lnSpc>
              <a:buNone/>
            </a:pPr>
            <a:r>
              <a:rPr lang="en-US" sz="1090" b="1" dirty="0">
                <a:solidFill>
                  <a:srgbClr val="2E5902"/>
                </a:solidFill>
                <a:latin typeface="Merriweather" pitchFamily="34" charset="0"/>
                <a:ea typeface="Merriweather" pitchFamily="34" charset="-122"/>
                <a:cs typeface="Merriweather" pitchFamily="34" charset="-120"/>
              </a:rPr>
              <a:t>核心算法国产化</a:t>
            </a:r>
            <a:endParaRPr lang="en-US" sz="1090" dirty="0"/>
          </a:p>
        </p:txBody>
      </p:sp>
      <p:sp>
        <p:nvSpPr>
          <p:cNvPr id="8" name="Text 2"/>
          <p:cNvSpPr/>
          <p:nvPr/>
        </p:nvSpPr>
        <p:spPr>
          <a:xfrm>
            <a:off x="428625" y="2819995"/>
            <a:ext cx="2690822" cy="342900"/>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攻克国密算法（SM系列）在 Hyperledger Fabric 底层的适配难题，实现安全自主可控。</a:t>
            </a:r>
            <a:endParaRPr lang="en-US" sz="835" dirty="0"/>
          </a:p>
        </p:txBody>
      </p:sp>
      <p:pic>
        <p:nvPicPr>
          <p:cNvPr id="9" name="Image 3" descr="preencoded.png"/>
          <p:cNvPicPr>
            <a:picLocks noChangeAspect="1"/>
          </p:cNvPicPr>
          <p:nvPr/>
        </p:nvPicPr>
        <p:blipFill>
          <a:blip r:embed="rId4"/>
          <a:stretch>
            <a:fillRect/>
          </a:stretch>
        </p:blipFill>
        <p:spPr>
          <a:xfrm>
            <a:off x="3190884" y="2492276"/>
            <a:ext cx="175022" cy="200025"/>
          </a:xfrm>
          <a:prstGeom prst="rect">
            <a:avLst/>
          </a:prstGeom>
        </p:spPr>
      </p:pic>
      <p:sp>
        <p:nvSpPr>
          <p:cNvPr id="10" name="Text 3"/>
          <p:cNvSpPr/>
          <p:nvPr/>
        </p:nvSpPr>
        <p:spPr>
          <a:xfrm>
            <a:off x="3451631" y="2478881"/>
            <a:ext cx="1100138" cy="226814"/>
          </a:xfrm>
          <a:prstGeom prst="rect">
            <a:avLst/>
          </a:prstGeom>
          <a:noFill/>
        </p:spPr>
        <p:txBody>
          <a:bodyPr wrap="none" lIns="0" tIns="0" rIns="0" bIns="0" rtlCol="0" anchor="t">
            <a:spAutoFit/>
          </a:bodyPr>
          <a:lstStyle/>
          <a:p>
            <a:pPr marL="0" indent="0" algn="l">
              <a:lnSpc>
                <a:spcPts val="1500"/>
              </a:lnSpc>
              <a:buNone/>
            </a:pPr>
            <a:r>
              <a:rPr lang="en-US" sz="1090" b="1" dirty="0">
                <a:solidFill>
                  <a:srgbClr val="2E5902"/>
                </a:solidFill>
                <a:latin typeface="Merriweather" pitchFamily="34" charset="0"/>
                <a:ea typeface="Merriweather" pitchFamily="34" charset="-122"/>
                <a:cs typeface="Merriweather" pitchFamily="34" charset="-120"/>
              </a:rPr>
              <a:t>双存储模型优化</a:t>
            </a:r>
            <a:endParaRPr lang="en-US" sz="1090" dirty="0"/>
          </a:p>
        </p:txBody>
      </p:sp>
      <p:sp>
        <p:nvSpPr>
          <p:cNvPr id="11" name="Text 4"/>
          <p:cNvSpPr/>
          <p:nvPr/>
        </p:nvSpPr>
        <p:spPr>
          <a:xfrm>
            <a:off x="3190884" y="2819995"/>
            <a:ext cx="2690822" cy="342900"/>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引入 IPFS 解决海量多媒体数据存储瓶颈，实现“区块链元数据 + IPFS 大文件”的高效存证。</a:t>
            </a:r>
            <a:endParaRPr lang="en-US" sz="835" dirty="0"/>
          </a:p>
        </p:txBody>
      </p:sp>
      <p:pic>
        <p:nvPicPr>
          <p:cNvPr id="12" name="Image 4" descr="preencoded.png"/>
          <p:cNvPicPr>
            <a:picLocks noChangeAspect="1"/>
          </p:cNvPicPr>
          <p:nvPr/>
        </p:nvPicPr>
        <p:blipFill>
          <a:blip r:embed="rId5"/>
          <a:stretch>
            <a:fillRect/>
          </a:stretch>
        </p:blipFill>
        <p:spPr>
          <a:xfrm>
            <a:off x="5953144" y="2492276"/>
            <a:ext cx="225028" cy="200025"/>
          </a:xfrm>
          <a:prstGeom prst="rect">
            <a:avLst/>
          </a:prstGeom>
        </p:spPr>
      </p:pic>
      <p:sp>
        <p:nvSpPr>
          <p:cNvPr id="13" name="Text 5"/>
          <p:cNvSpPr/>
          <p:nvPr/>
        </p:nvSpPr>
        <p:spPr>
          <a:xfrm>
            <a:off x="6263897" y="2478881"/>
            <a:ext cx="1100138" cy="226814"/>
          </a:xfrm>
          <a:prstGeom prst="rect">
            <a:avLst/>
          </a:prstGeom>
          <a:noFill/>
        </p:spPr>
        <p:txBody>
          <a:bodyPr wrap="none" lIns="0" tIns="0" rIns="0" bIns="0" rtlCol="0" anchor="t">
            <a:spAutoFit/>
          </a:bodyPr>
          <a:lstStyle/>
          <a:p>
            <a:pPr marL="0" indent="0" algn="l">
              <a:lnSpc>
                <a:spcPts val="1500"/>
              </a:lnSpc>
              <a:buNone/>
            </a:pPr>
            <a:r>
              <a:rPr lang="en-US" sz="1090" b="1" dirty="0">
                <a:solidFill>
                  <a:srgbClr val="2E5902"/>
                </a:solidFill>
                <a:latin typeface="Merriweather" pitchFamily="34" charset="0"/>
                <a:ea typeface="Merriweather" pitchFamily="34" charset="-122"/>
                <a:cs typeface="Merriweather" pitchFamily="34" charset="-120"/>
              </a:rPr>
              <a:t>全链条原型开发</a:t>
            </a:r>
            <a:endParaRPr lang="en-US" sz="1090" dirty="0"/>
          </a:p>
        </p:txBody>
      </p:sp>
      <p:sp>
        <p:nvSpPr>
          <p:cNvPr id="14" name="Text 6"/>
          <p:cNvSpPr/>
          <p:nvPr/>
        </p:nvSpPr>
        <p:spPr>
          <a:xfrm>
            <a:off x="5953144" y="2819995"/>
            <a:ext cx="2690822" cy="342900"/>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开发涵盖生产、加工、物流、销售全环节的溯源原型系统，并进行实地场景验证。</a:t>
            </a:r>
            <a:endParaRPr lang="en-US" sz="83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p:spPr>
        <p:txBody>
          <a:bodyPr wrap="none" lIns="0" tIns="0" rIns="0" bIns="0" rtlCol="0" anchor="t">
            <a:spAutoFit/>
          </a:bodyPr>
          <a:lstStyle/>
          <a:p>
            <a:pPr marL="0" indent="0" algn="l">
              <a:lnSpc>
                <a:spcPts val="2700"/>
              </a:lnSpc>
              <a:buNone/>
            </a:pPr>
            <a:r>
              <a:rPr lang="en-US" sz="2015" b="1" dirty="0">
                <a:solidFill>
                  <a:srgbClr val="2E5902"/>
                </a:solidFill>
                <a:latin typeface="Merriweather" pitchFamily="34" charset="0"/>
                <a:ea typeface="Merriweather" pitchFamily="34" charset="-122"/>
                <a:cs typeface="Merriweather" pitchFamily="34" charset="-120"/>
              </a:rPr>
              <a:t>总体技术路线与架构：系统设计的蓝图</a:t>
            </a:r>
            <a:endParaRPr lang="en-US" sz="2015" dirty="0"/>
          </a:p>
        </p:txBody>
      </p:sp>
      <p:sp>
        <p:nvSpPr>
          <p:cNvPr id="5" name="Shape 1"/>
          <p:cNvSpPr/>
          <p:nvPr/>
        </p:nvSpPr>
        <p:spPr>
          <a:xfrm>
            <a:off x="571500" y="1300163"/>
            <a:ext cx="285750" cy="285750"/>
          </a:xfrm>
          <a:prstGeom prst="ellipse">
            <a:avLst/>
          </a:prstGeom>
          <a:solidFill>
            <a:srgbClr val="2E5902"/>
          </a:solidFill>
        </p:spPr>
      </p:sp>
      <p:sp>
        <p:nvSpPr>
          <p:cNvPr id="6" name="Text 2"/>
          <p:cNvSpPr/>
          <p:nvPr/>
        </p:nvSpPr>
        <p:spPr>
          <a:xfrm>
            <a:off x="571500" y="1300163"/>
            <a:ext cx="285750" cy="285750"/>
          </a:xfrm>
          <a:prstGeom prst="rect">
            <a:avLst/>
          </a:prstGeom>
          <a:noFill/>
        </p:spPr>
        <p:txBody>
          <a:bodyPr wrap="square" lIns="0" tIns="0" rIns="0" bIns="0" rtlCol="0" anchor="ctr">
            <a:spAutoFit/>
          </a:bodyPr>
          <a:lstStyle/>
          <a:p>
            <a:pPr marL="0" indent="0" algn="ctr">
              <a:lnSpc>
                <a:spcPts val="1100"/>
              </a:lnSpc>
              <a:buNone/>
            </a:pPr>
            <a:r>
              <a:rPr lang="en-US" sz="785" b="1" dirty="0">
                <a:solidFill>
                  <a:srgbClr val="FFFFFF"/>
                </a:solidFill>
                <a:latin typeface="Open Sans" panose="020B0606030504020204" pitchFamily="34" charset="0"/>
                <a:ea typeface="Open Sans" panose="020B0606030504020204" pitchFamily="34" charset="-122"/>
                <a:cs typeface="Open Sans" panose="020B0606030504020204" pitchFamily="34" charset="-120"/>
              </a:rPr>
              <a:t>1</a:t>
            </a:r>
            <a:endParaRPr lang="en-US" sz="785" dirty="0"/>
          </a:p>
        </p:txBody>
      </p:sp>
      <p:sp>
        <p:nvSpPr>
          <p:cNvPr id="7" name="Text 3"/>
          <p:cNvSpPr/>
          <p:nvPr/>
        </p:nvSpPr>
        <p:spPr>
          <a:xfrm>
            <a:off x="1000125" y="1339453"/>
            <a:ext cx="1285875"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需求分析与标准制定</a:t>
            </a:r>
            <a:endParaRPr lang="en-US" sz="985" dirty="0"/>
          </a:p>
        </p:txBody>
      </p:sp>
      <p:sp>
        <p:nvSpPr>
          <p:cNvPr id="8" name="Shape 4"/>
          <p:cNvSpPr/>
          <p:nvPr/>
        </p:nvSpPr>
        <p:spPr>
          <a:xfrm>
            <a:off x="571500" y="1693069"/>
            <a:ext cx="285750" cy="285750"/>
          </a:xfrm>
          <a:prstGeom prst="ellipse">
            <a:avLst/>
          </a:prstGeom>
          <a:solidFill>
            <a:srgbClr val="2E5902"/>
          </a:solidFill>
        </p:spPr>
      </p:sp>
      <p:sp>
        <p:nvSpPr>
          <p:cNvPr id="9" name="Text 5"/>
          <p:cNvSpPr/>
          <p:nvPr/>
        </p:nvSpPr>
        <p:spPr>
          <a:xfrm>
            <a:off x="571500" y="1693069"/>
            <a:ext cx="285750" cy="285750"/>
          </a:xfrm>
          <a:prstGeom prst="rect">
            <a:avLst/>
          </a:prstGeom>
          <a:noFill/>
        </p:spPr>
        <p:txBody>
          <a:bodyPr wrap="square" lIns="0" tIns="0" rIns="0" bIns="0" rtlCol="0" anchor="ctr">
            <a:spAutoFit/>
          </a:bodyPr>
          <a:lstStyle/>
          <a:p>
            <a:pPr marL="0" indent="0" algn="ctr">
              <a:lnSpc>
                <a:spcPts val="1100"/>
              </a:lnSpc>
              <a:buNone/>
            </a:pPr>
            <a:r>
              <a:rPr lang="en-US" sz="785" b="1" dirty="0">
                <a:solidFill>
                  <a:srgbClr val="FFFFFF"/>
                </a:solidFill>
                <a:latin typeface="Open Sans" panose="020B0606030504020204" pitchFamily="34" charset="0"/>
                <a:ea typeface="Open Sans" panose="020B0606030504020204" pitchFamily="34" charset="-122"/>
                <a:cs typeface="Open Sans" panose="020B0606030504020204" pitchFamily="34" charset="-120"/>
              </a:rPr>
              <a:t>2</a:t>
            </a:r>
            <a:endParaRPr lang="en-US" sz="785" dirty="0"/>
          </a:p>
        </p:txBody>
      </p:sp>
      <p:sp>
        <p:nvSpPr>
          <p:cNvPr id="10" name="Text 6"/>
          <p:cNvSpPr/>
          <p:nvPr/>
        </p:nvSpPr>
        <p:spPr>
          <a:xfrm>
            <a:off x="1000125" y="1732359"/>
            <a:ext cx="1428750"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系统架构与双存储设计</a:t>
            </a:r>
            <a:endParaRPr lang="en-US" sz="985" dirty="0"/>
          </a:p>
        </p:txBody>
      </p:sp>
      <p:sp>
        <p:nvSpPr>
          <p:cNvPr id="11" name="Shape 7"/>
          <p:cNvSpPr/>
          <p:nvPr/>
        </p:nvSpPr>
        <p:spPr>
          <a:xfrm>
            <a:off x="571500" y="2085975"/>
            <a:ext cx="285750" cy="285750"/>
          </a:xfrm>
          <a:prstGeom prst="ellipse">
            <a:avLst/>
          </a:prstGeom>
          <a:solidFill>
            <a:srgbClr val="2E5902"/>
          </a:solidFill>
        </p:spPr>
      </p:sp>
      <p:sp>
        <p:nvSpPr>
          <p:cNvPr id="12" name="Text 8"/>
          <p:cNvSpPr/>
          <p:nvPr/>
        </p:nvSpPr>
        <p:spPr>
          <a:xfrm>
            <a:off x="571500" y="2085975"/>
            <a:ext cx="285750" cy="285750"/>
          </a:xfrm>
          <a:prstGeom prst="rect">
            <a:avLst/>
          </a:prstGeom>
          <a:noFill/>
        </p:spPr>
        <p:txBody>
          <a:bodyPr wrap="square" lIns="0" tIns="0" rIns="0" bIns="0" rtlCol="0" anchor="ctr">
            <a:spAutoFit/>
          </a:bodyPr>
          <a:lstStyle/>
          <a:p>
            <a:pPr marL="0" indent="0" algn="ctr">
              <a:lnSpc>
                <a:spcPts val="1100"/>
              </a:lnSpc>
              <a:buNone/>
            </a:pPr>
            <a:r>
              <a:rPr lang="en-US" sz="785" b="1" dirty="0">
                <a:solidFill>
                  <a:srgbClr val="FFFFFF"/>
                </a:solidFill>
                <a:latin typeface="Open Sans" panose="020B0606030504020204" pitchFamily="34" charset="0"/>
                <a:ea typeface="Open Sans" panose="020B0606030504020204" pitchFamily="34" charset="-122"/>
                <a:cs typeface="Open Sans" panose="020B0606030504020204" pitchFamily="34" charset="-120"/>
              </a:rPr>
              <a:t>3</a:t>
            </a:r>
            <a:endParaRPr lang="en-US" sz="785" dirty="0"/>
          </a:p>
        </p:txBody>
      </p:sp>
      <p:sp>
        <p:nvSpPr>
          <p:cNvPr id="13" name="Text 9"/>
          <p:cNvSpPr/>
          <p:nvPr/>
        </p:nvSpPr>
        <p:spPr>
          <a:xfrm>
            <a:off x="1000125" y="2125266"/>
            <a:ext cx="1428750"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国密算法底层适配攻关</a:t>
            </a:r>
            <a:endParaRPr lang="en-US" sz="985" dirty="0"/>
          </a:p>
        </p:txBody>
      </p:sp>
      <p:sp>
        <p:nvSpPr>
          <p:cNvPr id="14" name="Shape 10"/>
          <p:cNvSpPr/>
          <p:nvPr/>
        </p:nvSpPr>
        <p:spPr>
          <a:xfrm>
            <a:off x="571500" y="2478881"/>
            <a:ext cx="285750" cy="285750"/>
          </a:xfrm>
          <a:prstGeom prst="ellipse">
            <a:avLst/>
          </a:prstGeom>
          <a:solidFill>
            <a:srgbClr val="2E5902"/>
          </a:solidFill>
        </p:spPr>
      </p:sp>
      <p:sp>
        <p:nvSpPr>
          <p:cNvPr id="15" name="Text 11"/>
          <p:cNvSpPr/>
          <p:nvPr/>
        </p:nvSpPr>
        <p:spPr>
          <a:xfrm>
            <a:off x="571500" y="2478881"/>
            <a:ext cx="285750" cy="285750"/>
          </a:xfrm>
          <a:prstGeom prst="rect">
            <a:avLst/>
          </a:prstGeom>
          <a:noFill/>
        </p:spPr>
        <p:txBody>
          <a:bodyPr wrap="square" lIns="0" tIns="0" rIns="0" bIns="0" rtlCol="0" anchor="ctr">
            <a:spAutoFit/>
          </a:bodyPr>
          <a:lstStyle/>
          <a:p>
            <a:pPr marL="0" indent="0" algn="ctr">
              <a:lnSpc>
                <a:spcPts val="1100"/>
              </a:lnSpc>
              <a:buNone/>
            </a:pPr>
            <a:r>
              <a:rPr lang="en-US" sz="785" b="1" dirty="0">
                <a:solidFill>
                  <a:srgbClr val="FFFFFF"/>
                </a:solidFill>
                <a:latin typeface="Open Sans" panose="020B0606030504020204" pitchFamily="34" charset="0"/>
                <a:ea typeface="Open Sans" panose="020B0606030504020204" pitchFamily="34" charset="-122"/>
                <a:cs typeface="Open Sans" panose="020B0606030504020204" pitchFamily="34" charset="-120"/>
              </a:rPr>
              <a:t>4</a:t>
            </a:r>
            <a:endParaRPr lang="en-US" sz="785" dirty="0"/>
          </a:p>
        </p:txBody>
      </p:sp>
      <p:sp>
        <p:nvSpPr>
          <p:cNvPr id="16" name="Text 12"/>
          <p:cNvSpPr/>
          <p:nvPr/>
        </p:nvSpPr>
        <p:spPr>
          <a:xfrm>
            <a:off x="1000125" y="2518172"/>
            <a:ext cx="1285875"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原型系统开发与集成</a:t>
            </a:r>
            <a:endParaRPr lang="en-US" sz="985" dirty="0"/>
          </a:p>
        </p:txBody>
      </p:sp>
      <p:sp>
        <p:nvSpPr>
          <p:cNvPr id="17" name="Shape 13"/>
          <p:cNvSpPr/>
          <p:nvPr/>
        </p:nvSpPr>
        <p:spPr>
          <a:xfrm>
            <a:off x="571500" y="2871788"/>
            <a:ext cx="285750" cy="285750"/>
          </a:xfrm>
          <a:prstGeom prst="ellipse">
            <a:avLst/>
          </a:prstGeom>
          <a:solidFill>
            <a:srgbClr val="2E5902"/>
          </a:solidFill>
        </p:spPr>
      </p:sp>
      <p:sp>
        <p:nvSpPr>
          <p:cNvPr id="18" name="Text 14"/>
          <p:cNvSpPr/>
          <p:nvPr/>
        </p:nvSpPr>
        <p:spPr>
          <a:xfrm>
            <a:off x="571500" y="2871788"/>
            <a:ext cx="285750" cy="285750"/>
          </a:xfrm>
          <a:prstGeom prst="rect">
            <a:avLst/>
          </a:prstGeom>
          <a:noFill/>
        </p:spPr>
        <p:txBody>
          <a:bodyPr wrap="square" lIns="0" tIns="0" rIns="0" bIns="0" rtlCol="0" anchor="ctr">
            <a:spAutoFit/>
          </a:bodyPr>
          <a:lstStyle/>
          <a:p>
            <a:pPr marL="0" indent="0" algn="ctr">
              <a:lnSpc>
                <a:spcPts val="1100"/>
              </a:lnSpc>
              <a:buNone/>
            </a:pPr>
            <a:r>
              <a:rPr lang="en-US" sz="785" b="1" dirty="0">
                <a:solidFill>
                  <a:srgbClr val="FFFFFF"/>
                </a:solidFill>
                <a:latin typeface="Open Sans" panose="020B0606030504020204" pitchFamily="34" charset="0"/>
                <a:ea typeface="Open Sans" panose="020B0606030504020204" pitchFamily="34" charset="-122"/>
                <a:cs typeface="Open Sans" panose="020B0606030504020204" pitchFamily="34" charset="-120"/>
              </a:rPr>
              <a:t>5</a:t>
            </a:r>
            <a:endParaRPr lang="en-US" sz="785" dirty="0"/>
          </a:p>
        </p:txBody>
      </p:sp>
      <p:sp>
        <p:nvSpPr>
          <p:cNvPr id="19" name="Text 15"/>
          <p:cNvSpPr/>
          <p:nvPr/>
        </p:nvSpPr>
        <p:spPr>
          <a:xfrm>
            <a:off x="1000125" y="2911078"/>
            <a:ext cx="1285875"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实验验证与性能优化</a:t>
            </a:r>
            <a:endParaRPr lang="en-US" sz="985" dirty="0"/>
          </a:p>
        </p:txBody>
      </p:sp>
      <p:sp>
        <p:nvSpPr>
          <p:cNvPr id="20" name="Text 16"/>
          <p:cNvSpPr/>
          <p:nvPr/>
        </p:nvSpPr>
        <p:spPr>
          <a:xfrm>
            <a:off x="571500" y="3421856"/>
            <a:ext cx="3636811" cy="166092"/>
          </a:xfrm>
          <a:prstGeom prst="rect">
            <a:avLst/>
          </a:prstGeom>
          <a:noFill/>
        </p:spPr>
        <p:txBody>
          <a:bodyPr wrap="none" lIns="0" tIns="0" rIns="0" bIns="0" rtlCol="0" anchor="t">
            <a:spAutoFit/>
          </a:bodyPr>
          <a:lstStyle/>
          <a:p>
            <a:pPr marL="0" indent="0" algn="l">
              <a:lnSpc>
                <a:spcPts val="1100"/>
              </a:lnSpc>
              <a:buNone/>
            </a:pPr>
            <a:r>
              <a:rPr lang="en-US" sz="785" b="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底层：</a:t>
            </a: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Fabric + 国密改造 (BCCSP)</a:t>
            </a:r>
            <a:endParaRPr lang="en-US" sz="785" dirty="0"/>
          </a:p>
        </p:txBody>
      </p:sp>
      <p:sp>
        <p:nvSpPr>
          <p:cNvPr id="21" name="Text 17"/>
          <p:cNvSpPr/>
          <p:nvPr/>
        </p:nvSpPr>
        <p:spPr>
          <a:xfrm>
            <a:off x="571500" y="3645098"/>
            <a:ext cx="3636811" cy="166092"/>
          </a:xfrm>
          <a:prstGeom prst="rect">
            <a:avLst/>
          </a:prstGeom>
          <a:noFill/>
        </p:spPr>
        <p:txBody>
          <a:bodyPr wrap="none" lIns="0" tIns="0" rIns="0" bIns="0" rtlCol="0" anchor="t">
            <a:spAutoFit/>
          </a:bodyPr>
          <a:lstStyle/>
          <a:p>
            <a:pPr marL="0" indent="0" algn="l">
              <a:lnSpc>
                <a:spcPts val="1100"/>
              </a:lnSpc>
              <a:buNone/>
            </a:pPr>
            <a:r>
              <a:rPr lang="en-US" sz="785" b="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存储：</a:t>
            </a: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LevelDB + IPFS (双存储)</a:t>
            </a:r>
            <a:endParaRPr lang="en-US" sz="785" dirty="0"/>
          </a:p>
        </p:txBody>
      </p:sp>
      <p:sp>
        <p:nvSpPr>
          <p:cNvPr id="22" name="Text 18"/>
          <p:cNvSpPr/>
          <p:nvPr/>
        </p:nvSpPr>
        <p:spPr>
          <a:xfrm>
            <a:off x="571500" y="3868341"/>
            <a:ext cx="3636811" cy="166092"/>
          </a:xfrm>
          <a:prstGeom prst="rect">
            <a:avLst/>
          </a:prstGeom>
          <a:noFill/>
        </p:spPr>
        <p:txBody>
          <a:bodyPr wrap="none" lIns="0" tIns="0" rIns="0" bIns="0" rtlCol="0" anchor="t">
            <a:spAutoFit/>
          </a:bodyPr>
          <a:lstStyle/>
          <a:p>
            <a:pPr marL="0" indent="0" algn="l">
              <a:lnSpc>
                <a:spcPts val="1100"/>
              </a:lnSpc>
              <a:buNone/>
            </a:pPr>
            <a:r>
              <a:rPr lang="en-US" sz="785" b="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应用：</a:t>
            </a: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Gin (Go) + Vue3 + 小程序</a:t>
            </a:r>
            <a:endParaRPr lang="en-US" sz="785" dirty="0"/>
          </a:p>
        </p:txBody>
      </p:sp>
      <p:pic>
        <p:nvPicPr>
          <p:cNvPr id="23" name="Image 1" descr="preencoded.png"/>
          <p:cNvPicPr>
            <a:picLocks noChangeAspect="1"/>
          </p:cNvPicPr>
          <p:nvPr/>
        </p:nvPicPr>
        <p:blipFill>
          <a:blip r:embed="rId2"/>
          <a:stretch>
            <a:fillRect/>
          </a:stretch>
        </p:blipFill>
        <p:spPr>
          <a:xfrm>
            <a:off x="4247266" y="1193006"/>
            <a:ext cx="4286250" cy="2571750"/>
          </a:xfrm>
          <a:prstGeom prst="rect">
            <a:avLst/>
          </a:prstGeom>
        </p:spPr>
      </p:pic>
      <p:sp>
        <p:nvSpPr>
          <p:cNvPr id="24" name="Text 19"/>
          <p:cNvSpPr/>
          <p:nvPr/>
        </p:nvSpPr>
        <p:spPr>
          <a:xfrm>
            <a:off x="5840323" y="3836194"/>
            <a:ext cx="1100138" cy="144661"/>
          </a:xfrm>
          <a:prstGeom prst="rect">
            <a:avLst/>
          </a:prstGeom>
          <a:noFill/>
        </p:spPr>
        <p:txBody>
          <a:bodyPr wrap="none" lIns="0" tIns="0" rIns="0" bIns="0" rtlCol="0" anchor="t">
            <a:spAutoFit/>
          </a:bodyPr>
          <a:lstStyle/>
          <a:p>
            <a:pPr marL="0" indent="0" algn="l">
              <a:lnSpc>
                <a:spcPts val="900"/>
              </a:lnSpc>
              <a:buNone/>
            </a:pPr>
            <a:r>
              <a:rPr lang="en-US" sz="725"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图：系统总体技术路线图</a:t>
            </a:r>
            <a:endParaRPr lang="en-US" sz="7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p:spPr>
        <p:txBody>
          <a:bodyPr wrap="none" lIns="0" tIns="0" rIns="0" bIns="0" rtlCol="0" anchor="t">
            <a:spAutoFit/>
          </a:bodyPr>
          <a:lstStyle/>
          <a:p>
            <a:pPr marL="0" indent="0" algn="l">
              <a:lnSpc>
                <a:spcPts val="2700"/>
              </a:lnSpc>
              <a:buNone/>
            </a:pPr>
            <a:r>
              <a:rPr lang="en-US" sz="2015" b="1" dirty="0">
                <a:solidFill>
                  <a:srgbClr val="2E5902"/>
                </a:solidFill>
                <a:latin typeface="Merriweather" pitchFamily="34" charset="0"/>
                <a:ea typeface="Merriweather" pitchFamily="34" charset="-122"/>
                <a:cs typeface="Merriweather" pitchFamily="34" charset="-120"/>
              </a:rPr>
              <a:t>核心攻关：国密算法在 Fabric 中的适配实现</a:t>
            </a:r>
            <a:endParaRPr lang="en-US" sz="2015" dirty="0"/>
          </a:p>
        </p:txBody>
      </p:sp>
      <p:pic>
        <p:nvPicPr>
          <p:cNvPr id="5" name="Image 1" descr="preencoded.png"/>
          <p:cNvPicPr>
            <a:picLocks noChangeAspect="1"/>
          </p:cNvPicPr>
          <p:nvPr/>
        </p:nvPicPr>
        <p:blipFill>
          <a:blip r:embed="rId2"/>
          <a:stretch>
            <a:fillRect/>
          </a:stretch>
        </p:blipFill>
        <p:spPr>
          <a:xfrm>
            <a:off x="571500" y="1431429"/>
            <a:ext cx="214313" cy="171450"/>
          </a:xfrm>
          <a:prstGeom prst="rect">
            <a:avLst/>
          </a:prstGeom>
        </p:spPr>
      </p:pic>
      <p:sp>
        <p:nvSpPr>
          <p:cNvPr id="6" name="Text 1"/>
          <p:cNvSpPr/>
          <p:nvPr/>
        </p:nvSpPr>
        <p:spPr>
          <a:xfrm>
            <a:off x="892969" y="1393031"/>
            <a:ext cx="1291233" cy="248245"/>
          </a:xfrm>
          <a:prstGeom prst="rect">
            <a:avLst/>
          </a:prstGeom>
          <a:noFill/>
        </p:spPr>
        <p:txBody>
          <a:bodyPr wrap="none" lIns="0" tIns="0" rIns="0" bIns="0" rtlCol="0" anchor="t">
            <a:spAutoFit/>
          </a:bodyPr>
          <a:lstStyle/>
          <a:p>
            <a:pPr marL="0" indent="0" algn="l">
              <a:lnSpc>
                <a:spcPts val="1600"/>
              </a:lnSpc>
              <a:buNone/>
            </a:pPr>
            <a:r>
              <a:rPr lang="en-US" sz="1195" b="1" dirty="0">
                <a:solidFill>
                  <a:srgbClr val="2E5902"/>
                </a:solidFill>
                <a:latin typeface="Merriweather" pitchFamily="34" charset="0"/>
                <a:ea typeface="Merriweather" pitchFamily="34" charset="-122"/>
                <a:cs typeface="Merriweather" pitchFamily="34" charset="-120"/>
              </a:rPr>
              <a:t>BCCSP 模块重构</a:t>
            </a:r>
            <a:endParaRPr lang="en-US" sz="1195" dirty="0"/>
          </a:p>
        </p:txBody>
      </p:sp>
      <p:sp>
        <p:nvSpPr>
          <p:cNvPr id="7" name="Text 2"/>
          <p:cNvSpPr/>
          <p:nvPr/>
        </p:nvSpPr>
        <p:spPr>
          <a:xfrm>
            <a:off x="857250" y="1698427"/>
            <a:ext cx="3351061" cy="231446"/>
          </a:xfrm>
          <a:prstGeom prst="rect">
            <a:avLst/>
          </a:prstGeom>
          <a:noFill/>
        </p:spPr>
        <p:txBody>
          <a:bodyPr wrap="none" lIns="0" tIns="0" rIns="0" bIns="0" rtlCol="0" anchor="t">
            <a:spAutoFit/>
          </a:bodyPr>
          <a:lstStyle/>
          <a:p>
            <a:pPr marL="0" indent="0" algn="l">
              <a:lnSpc>
                <a:spcPts val="18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重构区块链加密服务提供者 (BCCSP) 接口。</a:t>
            </a:r>
            <a:endParaRPr lang="en-US" sz="940" dirty="0"/>
          </a:p>
        </p:txBody>
      </p:sp>
      <p:sp>
        <p:nvSpPr>
          <p:cNvPr id="8" name="Text 3"/>
          <p:cNvSpPr/>
          <p:nvPr/>
        </p:nvSpPr>
        <p:spPr>
          <a:xfrm>
            <a:off x="857250" y="2001310"/>
            <a:ext cx="3351061" cy="231446"/>
          </a:xfrm>
          <a:prstGeom prst="rect">
            <a:avLst/>
          </a:prstGeom>
          <a:noFill/>
        </p:spPr>
        <p:txBody>
          <a:bodyPr wrap="none" lIns="0" tIns="0" rIns="0" bIns="0" rtlCol="0" anchor="t">
            <a:spAutoFit/>
          </a:bodyPr>
          <a:lstStyle/>
          <a:p>
            <a:pPr marL="0" indent="0" algn="l">
              <a:lnSpc>
                <a:spcPts val="18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实现国密算法的插件化加载与动态切换。</a:t>
            </a:r>
            <a:endParaRPr lang="en-US" sz="940" dirty="0"/>
          </a:p>
        </p:txBody>
      </p:sp>
      <p:sp>
        <p:nvSpPr>
          <p:cNvPr id="9" name="Text 4"/>
          <p:cNvSpPr/>
          <p:nvPr/>
        </p:nvSpPr>
        <p:spPr>
          <a:xfrm>
            <a:off x="857250" y="2304194"/>
            <a:ext cx="3351061" cy="231446"/>
          </a:xfrm>
          <a:prstGeom prst="rect">
            <a:avLst/>
          </a:prstGeom>
          <a:noFill/>
        </p:spPr>
        <p:txBody>
          <a:bodyPr wrap="none" lIns="0" tIns="0" rIns="0" bIns="0" rtlCol="0" anchor="t">
            <a:spAutoFit/>
          </a:bodyPr>
          <a:lstStyle/>
          <a:p>
            <a:pPr marL="0" indent="0" algn="l">
              <a:lnSpc>
                <a:spcPts val="18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确保底层加密逻辑与上链业务解耦。</a:t>
            </a:r>
            <a:endParaRPr lang="en-US" sz="940" dirty="0"/>
          </a:p>
        </p:txBody>
      </p:sp>
      <p:pic>
        <p:nvPicPr>
          <p:cNvPr id="10" name="Image 2" descr="preencoded.png"/>
          <p:cNvPicPr>
            <a:picLocks noChangeAspect="1"/>
          </p:cNvPicPr>
          <p:nvPr/>
        </p:nvPicPr>
        <p:blipFill>
          <a:blip r:embed="rId3"/>
          <a:stretch>
            <a:fillRect/>
          </a:stretch>
        </p:blipFill>
        <p:spPr>
          <a:xfrm>
            <a:off x="571500" y="2702626"/>
            <a:ext cx="171450" cy="171450"/>
          </a:xfrm>
          <a:prstGeom prst="rect">
            <a:avLst/>
          </a:prstGeom>
        </p:spPr>
      </p:pic>
      <p:sp>
        <p:nvSpPr>
          <p:cNvPr id="11" name="Text 5"/>
          <p:cNvSpPr/>
          <p:nvPr/>
        </p:nvSpPr>
        <p:spPr>
          <a:xfrm>
            <a:off x="850106" y="2664228"/>
            <a:ext cx="1371600" cy="248245"/>
          </a:xfrm>
          <a:prstGeom prst="rect">
            <a:avLst/>
          </a:prstGeom>
          <a:noFill/>
        </p:spPr>
        <p:txBody>
          <a:bodyPr wrap="none" lIns="0" tIns="0" rIns="0" bIns="0" rtlCol="0" anchor="t">
            <a:spAutoFit/>
          </a:bodyPr>
          <a:lstStyle/>
          <a:p>
            <a:pPr marL="0" indent="0" algn="l">
              <a:lnSpc>
                <a:spcPts val="1600"/>
              </a:lnSpc>
              <a:buNone/>
            </a:pPr>
            <a:r>
              <a:rPr lang="en-US" sz="1195" b="1" dirty="0">
                <a:solidFill>
                  <a:srgbClr val="2E5902"/>
                </a:solidFill>
                <a:latin typeface="Merriweather" pitchFamily="34" charset="0"/>
                <a:ea typeface="Merriweather" pitchFamily="34" charset="-122"/>
                <a:cs typeface="Merriweather" pitchFamily="34" charset="-120"/>
              </a:rPr>
              <a:t>算法全量替换方案</a:t>
            </a:r>
            <a:endParaRPr lang="en-US" sz="1195" dirty="0"/>
          </a:p>
        </p:txBody>
      </p:sp>
      <p:sp>
        <p:nvSpPr>
          <p:cNvPr id="12" name="Text 6"/>
          <p:cNvSpPr/>
          <p:nvPr/>
        </p:nvSpPr>
        <p:spPr>
          <a:xfrm>
            <a:off x="985838" y="2969623"/>
            <a:ext cx="387548" cy="231446"/>
          </a:xfrm>
          <a:prstGeom prst="rect">
            <a:avLst/>
          </a:prstGeom>
          <a:noFill/>
        </p:spPr>
        <p:txBody>
          <a:bodyPr wrap="none" lIns="0" tIns="0" rIns="0" bIns="0" rtlCol="0" anchor="t">
            <a:spAutoFit/>
          </a:bodyPr>
          <a:lstStyle/>
          <a:p>
            <a:pPr marL="0" indent="0" algn="l">
              <a:lnSpc>
                <a:spcPts val="1800"/>
              </a:lnSpc>
              <a:buNone/>
            </a:pPr>
            <a:r>
              <a:rPr lang="en-US" sz="885" b="1" dirty="0">
                <a:solidFill>
                  <a:srgbClr val="4A4A4A"/>
                </a:solidFill>
                <a:latin typeface="Open Sans" panose="020B0606030504020204" pitchFamily="34" charset="0"/>
                <a:ea typeface="Open Sans" panose="020B0606030504020204" pitchFamily="34" charset="-122"/>
                <a:cs typeface="Open Sans" panose="020B0606030504020204" pitchFamily="34" charset="-120"/>
              </a:rPr>
              <a:t>SM2：</a:t>
            </a:r>
            <a:endParaRPr lang="en-US" sz="885" dirty="0"/>
          </a:p>
        </p:txBody>
      </p:sp>
      <p:sp>
        <p:nvSpPr>
          <p:cNvPr id="13" name="Text 7"/>
          <p:cNvSpPr/>
          <p:nvPr/>
        </p:nvSpPr>
        <p:spPr>
          <a:xfrm>
            <a:off x="1373386" y="2969623"/>
            <a:ext cx="2102048" cy="231446"/>
          </a:xfrm>
          <a:prstGeom prst="rect">
            <a:avLst/>
          </a:prstGeom>
          <a:noFill/>
        </p:spPr>
        <p:txBody>
          <a:bodyPr wrap="none" lIns="0" tIns="0" rIns="0" bIns="0" rtlCol="0" anchor="t">
            <a:spAutoFit/>
          </a:bodyPr>
          <a:lstStyle/>
          <a:p>
            <a:pPr marL="0" indent="0" algn="l">
              <a:lnSpc>
                <a:spcPts val="18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替换 ECDSA，用于身份认证与签名。</a:t>
            </a:r>
            <a:endParaRPr lang="en-US" sz="940" dirty="0"/>
          </a:p>
        </p:txBody>
      </p:sp>
      <p:sp>
        <p:nvSpPr>
          <p:cNvPr id="14" name="Text 8"/>
          <p:cNvSpPr/>
          <p:nvPr/>
        </p:nvSpPr>
        <p:spPr>
          <a:xfrm>
            <a:off x="985838" y="3272507"/>
            <a:ext cx="387548" cy="231446"/>
          </a:xfrm>
          <a:prstGeom prst="rect">
            <a:avLst/>
          </a:prstGeom>
          <a:noFill/>
        </p:spPr>
        <p:txBody>
          <a:bodyPr wrap="none" lIns="0" tIns="0" rIns="0" bIns="0" rtlCol="0" anchor="t">
            <a:spAutoFit/>
          </a:bodyPr>
          <a:lstStyle/>
          <a:p>
            <a:pPr marL="0" indent="0" algn="l">
              <a:lnSpc>
                <a:spcPts val="1800"/>
              </a:lnSpc>
              <a:buNone/>
            </a:pPr>
            <a:r>
              <a:rPr lang="en-US" sz="885" b="1" dirty="0">
                <a:solidFill>
                  <a:srgbClr val="4A4A4A"/>
                </a:solidFill>
                <a:latin typeface="Open Sans" panose="020B0606030504020204" pitchFamily="34" charset="0"/>
                <a:ea typeface="Open Sans" panose="020B0606030504020204" pitchFamily="34" charset="-122"/>
                <a:cs typeface="Open Sans" panose="020B0606030504020204" pitchFamily="34" charset="-120"/>
              </a:rPr>
              <a:t>SM3：</a:t>
            </a:r>
            <a:endParaRPr lang="en-US" sz="885" dirty="0"/>
          </a:p>
        </p:txBody>
      </p:sp>
      <p:sp>
        <p:nvSpPr>
          <p:cNvPr id="15" name="Text 9"/>
          <p:cNvSpPr/>
          <p:nvPr/>
        </p:nvSpPr>
        <p:spPr>
          <a:xfrm>
            <a:off x="1373386" y="3272507"/>
            <a:ext cx="2043113" cy="231446"/>
          </a:xfrm>
          <a:prstGeom prst="rect">
            <a:avLst/>
          </a:prstGeom>
          <a:noFill/>
        </p:spPr>
        <p:txBody>
          <a:bodyPr wrap="none" lIns="0" tIns="0" rIns="0" bIns="0" rtlCol="0" anchor="t">
            <a:spAutoFit/>
          </a:bodyPr>
          <a:lstStyle/>
          <a:p>
            <a:pPr marL="0" indent="0" algn="l">
              <a:lnSpc>
                <a:spcPts val="18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替换 SHA256，用于区块哈希计算。</a:t>
            </a:r>
            <a:endParaRPr lang="en-US" sz="940" dirty="0"/>
          </a:p>
        </p:txBody>
      </p:sp>
      <p:sp>
        <p:nvSpPr>
          <p:cNvPr id="16" name="Text 10"/>
          <p:cNvSpPr/>
          <p:nvPr/>
        </p:nvSpPr>
        <p:spPr>
          <a:xfrm>
            <a:off x="985838" y="3575391"/>
            <a:ext cx="387548" cy="231446"/>
          </a:xfrm>
          <a:prstGeom prst="rect">
            <a:avLst/>
          </a:prstGeom>
          <a:noFill/>
        </p:spPr>
        <p:txBody>
          <a:bodyPr wrap="none" lIns="0" tIns="0" rIns="0" bIns="0" rtlCol="0" anchor="t">
            <a:spAutoFit/>
          </a:bodyPr>
          <a:lstStyle/>
          <a:p>
            <a:pPr marL="0" indent="0" algn="l">
              <a:lnSpc>
                <a:spcPts val="1800"/>
              </a:lnSpc>
              <a:buNone/>
            </a:pPr>
            <a:r>
              <a:rPr lang="en-US" sz="885" b="1" dirty="0">
                <a:solidFill>
                  <a:srgbClr val="4A4A4A"/>
                </a:solidFill>
                <a:latin typeface="Open Sans" panose="020B0606030504020204" pitchFamily="34" charset="0"/>
                <a:ea typeface="Open Sans" panose="020B0606030504020204" pitchFamily="34" charset="-122"/>
                <a:cs typeface="Open Sans" panose="020B0606030504020204" pitchFamily="34" charset="-120"/>
              </a:rPr>
              <a:t>SM4：</a:t>
            </a:r>
            <a:endParaRPr lang="en-US" sz="885" dirty="0"/>
          </a:p>
        </p:txBody>
      </p:sp>
      <p:sp>
        <p:nvSpPr>
          <p:cNvPr id="17" name="Text 11"/>
          <p:cNvSpPr/>
          <p:nvPr/>
        </p:nvSpPr>
        <p:spPr>
          <a:xfrm>
            <a:off x="1373386" y="3575391"/>
            <a:ext cx="1800225" cy="231446"/>
          </a:xfrm>
          <a:prstGeom prst="rect">
            <a:avLst/>
          </a:prstGeom>
          <a:noFill/>
        </p:spPr>
        <p:txBody>
          <a:bodyPr wrap="none" lIns="0" tIns="0" rIns="0" bIns="0" rtlCol="0" anchor="t">
            <a:spAutoFit/>
          </a:bodyPr>
          <a:lstStyle/>
          <a:p>
            <a:pPr marL="0" indent="0" algn="l">
              <a:lnSpc>
                <a:spcPts val="18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替换 AES，用于敏感数据加密。</a:t>
            </a:r>
            <a:endParaRPr lang="en-US" sz="940" dirty="0"/>
          </a:p>
        </p:txBody>
      </p:sp>
      <p:pic>
        <p:nvPicPr>
          <p:cNvPr id="18" name="Image 3" descr="preencoded.png"/>
          <p:cNvPicPr>
            <a:picLocks noChangeAspect="1"/>
          </p:cNvPicPr>
          <p:nvPr/>
        </p:nvPicPr>
        <p:blipFill>
          <a:blip r:embed="rId4"/>
          <a:stretch>
            <a:fillRect/>
          </a:stretch>
        </p:blipFill>
        <p:spPr>
          <a:xfrm>
            <a:off x="4533016" y="1264444"/>
            <a:ext cx="3714750" cy="2928938"/>
          </a:xfrm>
          <a:prstGeom prst="rect">
            <a:avLst/>
          </a:prstGeom>
        </p:spPr>
      </p:pic>
      <p:sp>
        <p:nvSpPr>
          <p:cNvPr id="19" name="Text 12"/>
          <p:cNvSpPr/>
          <p:nvPr/>
        </p:nvSpPr>
        <p:spPr>
          <a:xfrm>
            <a:off x="4533016" y="4298752"/>
            <a:ext cx="3714750" cy="144661"/>
          </a:xfrm>
          <a:prstGeom prst="rect">
            <a:avLst/>
          </a:prstGeom>
          <a:noFill/>
        </p:spPr>
        <p:txBody>
          <a:bodyPr wrap="none" lIns="0" tIns="0" rIns="0" bIns="0" rtlCol="0" anchor="t">
            <a:spAutoFit/>
          </a:bodyPr>
          <a:lstStyle/>
          <a:p>
            <a:pPr marL="0" indent="0" algn="ctr">
              <a:lnSpc>
                <a:spcPts val="900"/>
              </a:lnSpc>
              <a:buNone/>
            </a:pPr>
            <a:r>
              <a:rPr lang="en-US" sz="725"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图：Fabric 平台国密算法嵌入设计架构图</a:t>
            </a:r>
            <a:endParaRPr lang="en-US" sz="7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p:spPr>
        <p:txBody>
          <a:bodyPr wrap="none" lIns="0" tIns="0" rIns="0" bIns="0" rtlCol="0" anchor="t">
            <a:spAutoFit/>
          </a:bodyPr>
          <a:lstStyle/>
          <a:p>
            <a:pPr marL="0" indent="0" algn="l">
              <a:lnSpc>
                <a:spcPts val="2700"/>
              </a:lnSpc>
              <a:buNone/>
            </a:pPr>
            <a:r>
              <a:rPr lang="en-US" sz="2015" b="1" dirty="0">
                <a:solidFill>
                  <a:srgbClr val="2E5902"/>
                </a:solidFill>
                <a:latin typeface="Merriweather" pitchFamily="34" charset="0"/>
                <a:ea typeface="Merriweather" pitchFamily="34" charset="-122"/>
                <a:cs typeface="Merriweather" pitchFamily="34" charset="-120"/>
              </a:rPr>
              <a:t>核心攻关：国密性能评估与功能验证</a:t>
            </a:r>
            <a:endParaRPr lang="en-US" sz="2015" dirty="0"/>
          </a:p>
        </p:txBody>
      </p:sp>
      <p:pic>
        <p:nvPicPr>
          <p:cNvPr id="5" name="Image 1" descr="preencoded.png"/>
          <p:cNvPicPr>
            <a:picLocks noChangeAspect="1"/>
          </p:cNvPicPr>
          <p:nvPr/>
        </p:nvPicPr>
        <p:blipFill>
          <a:blip r:embed="rId2"/>
          <a:stretch>
            <a:fillRect/>
          </a:stretch>
        </p:blipFill>
        <p:spPr>
          <a:xfrm>
            <a:off x="457200" y="1076920"/>
            <a:ext cx="171450" cy="171450"/>
          </a:xfrm>
          <a:prstGeom prst="rect">
            <a:avLst/>
          </a:prstGeom>
        </p:spPr>
      </p:pic>
      <p:sp>
        <p:nvSpPr>
          <p:cNvPr id="6" name="Text 1"/>
          <p:cNvSpPr/>
          <p:nvPr/>
        </p:nvSpPr>
        <p:spPr>
          <a:xfrm>
            <a:off x="700088" y="1059061"/>
            <a:ext cx="1200150" cy="214313"/>
          </a:xfrm>
          <a:prstGeom prst="rect">
            <a:avLst/>
          </a:prstGeom>
          <a:noFill/>
        </p:spPr>
        <p:txBody>
          <a:bodyPr wrap="none" lIns="0" tIns="0" rIns="0" bIns="0" rtlCol="0" anchor="t">
            <a:spAutoFit/>
          </a:bodyPr>
          <a:lstStyle/>
          <a:p>
            <a:pPr marL="0" indent="0" algn="l">
              <a:lnSpc>
                <a:spcPts val="1600"/>
              </a:lnSpc>
              <a:buNone/>
            </a:pPr>
            <a:r>
              <a:rPr lang="en-US" sz="1270" dirty="0">
                <a:solidFill>
                  <a:srgbClr val="2E5902"/>
                </a:solidFill>
                <a:latin typeface="Merriweather" pitchFamily="34" charset="0"/>
                <a:ea typeface="Merriweather" pitchFamily="34" charset="-122"/>
                <a:cs typeface="Merriweather" pitchFamily="34" charset="-120"/>
              </a:rPr>
              <a:t>功能有效性验证</a:t>
            </a:r>
            <a:endParaRPr lang="en-US" sz="1270" dirty="0"/>
          </a:p>
        </p:txBody>
      </p:sp>
      <p:pic>
        <p:nvPicPr>
          <p:cNvPr id="7" name="Image 2" descr="preencoded.png"/>
          <p:cNvPicPr>
            <a:picLocks noChangeAspect="1"/>
          </p:cNvPicPr>
          <p:nvPr/>
        </p:nvPicPr>
        <p:blipFill>
          <a:blip r:embed="rId3"/>
          <a:stretch>
            <a:fillRect/>
          </a:stretch>
        </p:blipFill>
        <p:spPr>
          <a:xfrm>
            <a:off x="914400" y="1376958"/>
            <a:ext cx="3143250" cy="1714500"/>
          </a:xfrm>
          <a:prstGeom prst="rect">
            <a:avLst/>
          </a:prstGeom>
        </p:spPr>
      </p:pic>
      <p:sp>
        <p:nvSpPr>
          <p:cNvPr id="8" name="Text 2"/>
          <p:cNvSpPr/>
          <p:nvPr/>
        </p:nvSpPr>
        <p:spPr>
          <a:xfrm>
            <a:off x="1492151" y="3134320"/>
            <a:ext cx="1987748" cy="144661"/>
          </a:xfrm>
          <a:prstGeom prst="rect">
            <a:avLst/>
          </a:prstGeom>
          <a:noFill/>
        </p:spPr>
        <p:txBody>
          <a:bodyPr wrap="none" lIns="0" tIns="0" rIns="0" bIns="0" rtlCol="0" anchor="t">
            <a:spAutoFit/>
          </a:bodyPr>
          <a:lstStyle/>
          <a:p>
            <a:pPr marL="0" indent="0" algn="ctr">
              <a:lnSpc>
                <a:spcPts val="900"/>
              </a:lnSpc>
              <a:buNone/>
            </a:pPr>
            <a:r>
              <a:rPr lang="en-US" sz="725"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图：BCCSP 模块 SM2 算法接口单元测试结果</a:t>
            </a:r>
            <a:endParaRPr lang="en-US" sz="725" dirty="0"/>
          </a:p>
        </p:txBody>
      </p:sp>
      <p:sp>
        <p:nvSpPr>
          <p:cNvPr id="9" name="Text 3"/>
          <p:cNvSpPr/>
          <p:nvPr/>
        </p:nvSpPr>
        <p:spPr>
          <a:xfrm>
            <a:off x="457200" y="3450431"/>
            <a:ext cx="4057650" cy="365727"/>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通过对重构后的 BCCSP 模块进行严格的单元测试，验证了 </a:t>
            </a:r>
            <a:r>
              <a:rPr lang="en-US" sz="7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SM2 签名/验签</a:t>
            </a: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a:t>
            </a:r>
            <a:r>
              <a:rPr lang="en-US" sz="7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SM3 哈希</a:t>
            </a: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 等接口的正确性，确保国密算法在 Fabric 底层运行稳定。</a:t>
            </a:r>
            <a:endParaRPr lang="en-US" sz="835" dirty="0"/>
          </a:p>
        </p:txBody>
      </p:sp>
      <p:pic>
        <p:nvPicPr>
          <p:cNvPr id="10" name="Image 3" descr="preencoded.png"/>
          <p:cNvPicPr>
            <a:picLocks noChangeAspect="1"/>
          </p:cNvPicPr>
          <p:nvPr/>
        </p:nvPicPr>
        <p:blipFill>
          <a:blip r:embed="rId4"/>
          <a:stretch>
            <a:fillRect/>
          </a:stretch>
        </p:blipFill>
        <p:spPr>
          <a:xfrm>
            <a:off x="4629150" y="1076920"/>
            <a:ext cx="171450" cy="171450"/>
          </a:xfrm>
          <a:prstGeom prst="rect">
            <a:avLst/>
          </a:prstGeom>
        </p:spPr>
      </p:pic>
      <p:sp>
        <p:nvSpPr>
          <p:cNvPr id="11" name="Text 4"/>
          <p:cNvSpPr/>
          <p:nvPr/>
        </p:nvSpPr>
        <p:spPr>
          <a:xfrm>
            <a:off x="4872038" y="1059061"/>
            <a:ext cx="1371600" cy="214313"/>
          </a:xfrm>
          <a:prstGeom prst="rect">
            <a:avLst/>
          </a:prstGeom>
          <a:noFill/>
        </p:spPr>
        <p:txBody>
          <a:bodyPr wrap="none" lIns="0" tIns="0" rIns="0" bIns="0" rtlCol="0" anchor="t">
            <a:spAutoFit/>
          </a:bodyPr>
          <a:lstStyle/>
          <a:p>
            <a:pPr marL="0" indent="0" algn="l">
              <a:lnSpc>
                <a:spcPts val="1600"/>
              </a:lnSpc>
              <a:buNone/>
            </a:pPr>
            <a:r>
              <a:rPr lang="en-US" sz="1270" dirty="0">
                <a:solidFill>
                  <a:srgbClr val="2E5902"/>
                </a:solidFill>
                <a:latin typeface="Merriweather" pitchFamily="34" charset="0"/>
                <a:ea typeface="Merriweather" pitchFamily="34" charset="-122"/>
                <a:cs typeface="Merriweather" pitchFamily="34" charset="-120"/>
              </a:rPr>
              <a:t>算法性能对比分析</a:t>
            </a:r>
            <a:endParaRPr lang="en-US" sz="1270" dirty="0"/>
          </a:p>
        </p:txBody>
      </p:sp>
      <p:pic>
        <p:nvPicPr>
          <p:cNvPr id="12" name="Image 4" descr="preencoded.png"/>
          <p:cNvPicPr>
            <a:picLocks noChangeAspect="1"/>
          </p:cNvPicPr>
          <p:nvPr/>
        </p:nvPicPr>
        <p:blipFill>
          <a:blip r:embed="rId5"/>
          <a:stretch>
            <a:fillRect/>
          </a:stretch>
        </p:blipFill>
        <p:spPr>
          <a:xfrm>
            <a:off x="5086350" y="1376958"/>
            <a:ext cx="3143250" cy="1714500"/>
          </a:xfrm>
          <a:prstGeom prst="rect">
            <a:avLst/>
          </a:prstGeom>
        </p:spPr>
      </p:pic>
      <p:sp>
        <p:nvSpPr>
          <p:cNvPr id="13" name="Text 5"/>
          <p:cNvSpPr/>
          <p:nvPr/>
        </p:nvSpPr>
        <p:spPr>
          <a:xfrm>
            <a:off x="5807869" y="3134320"/>
            <a:ext cx="1700213" cy="144661"/>
          </a:xfrm>
          <a:prstGeom prst="rect">
            <a:avLst/>
          </a:prstGeom>
          <a:noFill/>
        </p:spPr>
        <p:txBody>
          <a:bodyPr wrap="none" lIns="0" tIns="0" rIns="0" bIns="0" rtlCol="0" anchor="t">
            <a:spAutoFit/>
          </a:bodyPr>
          <a:lstStyle/>
          <a:p>
            <a:pPr marL="0" indent="0" algn="ctr">
              <a:lnSpc>
                <a:spcPts val="900"/>
              </a:lnSpc>
              <a:buNone/>
            </a:pPr>
            <a:r>
              <a:rPr lang="en-US" sz="725"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图：国密算法与原生算法时间开销对比</a:t>
            </a:r>
            <a:endParaRPr lang="en-US" sz="725" dirty="0"/>
          </a:p>
        </p:txBody>
      </p:sp>
      <p:sp>
        <p:nvSpPr>
          <p:cNvPr id="14" name="Text 6"/>
          <p:cNvSpPr/>
          <p:nvPr/>
        </p:nvSpPr>
        <p:spPr>
          <a:xfrm>
            <a:off x="4629150" y="3450431"/>
            <a:ext cx="4057650" cy="365727"/>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测试结果显示，SM 系列算法的时间开销略高于原生算法（ECDSA/SHA256），但</a:t>
            </a: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均保持在 </a:t>
            </a:r>
            <a:r>
              <a:rPr lang="en-US" sz="7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毫秒级</a:t>
            </a: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 范围内，完全满足农产品供应链实时溯源的性能需求。</a:t>
            </a:r>
            <a:endParaRPr lang="en-US" sz="83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p:spPr>
        <p:txBody>
          <a:bodyPr wrap="none" lIns="0" tIns="0" rIns="0" bIns="0" rtlCol="0" anchor="t">
            <a:spAutoFit/>
          </a:bodyPr>
          <a:lstStyle/>
          <a:p>
            <a:pPr marL="0" indent="0" algn="l">
              <a:lnSpc>
                <a:spcPts val="2700"/>
              </a:lnSpc>
              <a:buNone/>
            </a:pPr>
            <a:r>
              <a:rPr lang="en-US" sz="2015" b="1" dirty="0">
                <a:solidFill>
                  <a:srgbClr val="2E5902"/>
                </a:solidFill>
                <a:latin typeface="Merriweather" pitchFamily="34" charset="0"/>
                <a:ea typeface="Merriweather" pitchFamily="34" charset="-122"/>
                <a:cs typeface="Merriweather" pitchFamily="34" charset="-120"/>
              </a:rPr>
              <a:t>系统实现：Hyperledger Fabric 业务网络部署</a:t>
            </a:r>
            <a:endParaRPr lang="en-US" sz="2015" dirty="0"/>
          </a:p>
        </p:txBody>
      </p:sp>
      <p:pic>
        <p:nvPicPr>
          <p:cNvPr id="5" name="Image 1" descr="preencoded.png"/>
          <p:cNvPicPr>
            <a:picLocks noChangeAspect="1"/>
          </p:cNvPicPr>
          <p:nvPr/>
        </p:nvPicPr>
        <p:blipFill>
          <a:blip r:embed="rId2"/>
          <a:stretch>
            <a:fillRect/>
          </a:stretch>
        </p:blipFill>
        <p:spPr>
          <a:xfrm>
            <a:off x="735806" y="1064419"/>
            <a:ext cx="3286125" cy="1571625"/>
          </a:xfrm>
          <a:prstGeom prst="rect">
            <a:avLst/>
          </a:prstGeom>
        </p:spPr>
      </p:pic>
      <p:sp>
        <p:nvSpPr>
          <p:cNvPr id="6" name="Text 1"/>
          <p:cNvSpPr/>
          <p:nvPr/>
        </p:nvSpPr>
        <p:spPr>
          <a:xfrm>
            <a:off x="1510903" y="2721769"/>
            <a:ext cx="1735931" cy="144661"/>
          </a:xfrm>
          <a:prstGeom prst="rect">
            <a:avLst/>
          </a:prstGeom>
          <a:noFill/>
        </p:spPr>
        <p:txBody>
          <a:bodyPr wrap="none" lIns="0" tIns="0" rIns="0" bIns="0" rtlCol="0" anchor="t">
            <a:spAutoFit/>
          </a:bodyPr>
          <a:lstStyle/>
          <a:p>
            <a:pPr marL="0" indent="0" algn="l">
              <a:lnSpc>
                <a:spcPts val="900"/>
              </a:lnSpc>
              <a:buNone/>
            </a:pPr>
            <a:r>
              <a:rPr lang="en-US" sz="725" i="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图：基于 Fabric 的多组织业务网络拓扑</a:t>
            </a:r>
            <a:endParaRPr lang="en-US" sz="725" dirty="0"/>
          </a:p>
        </p:txBody>
      </p:sp>
      <p:pic>
        <p:nvPicPr>
          <p:cNvPr id="7" name="Image 2" descr="preencoded.png"/>
          <p:cNvPicPr>
            <a:picLocks noChangeAspect="1"/>
          </p:cNvPicPr>
          <p:nvPr/>
        </p:nvPicPr>
        <p:blipFill>
          <a:blip r:embed="rId3"/>
          <a:stretch>
            <a:fillRect/>
          </a:stretch>
        </p:blipFill>
        <p:spPr>
          <a:xfrm>
            <a:off x="357188" y="3052167"/>
            <a:ext cx="160734" cy="157163"/>
          </a:xfrm>
          <a:prstGeom prst="rect">
            <a:avLst/>
          </a:prstGeom>
        </p:spPr>
      </p:pic>
      <p:sp>
        <p:nvSpPr>
          <p:cNvPr id="8" name="Text 2"/>
          <p:cNvSpPr/>
          <p:nvPr/>
        </p:nvSpPr>
        <p:spPr>
          <a:xfrm>
            <a:off x="603647" y="3052167"/>
            <a:ext cx="3796903"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Merriweather" pitchFamily="34" charset="0"/>
                <a:ea typeface="Merriweather" pitchFamily="34" charset="-122"/>
                <a:cs typeface="Merriweather" pitchFamily="34" charset="-120"/>
              </a:rPr>
              <a:t>多组织架构设计</a:t>
            </a:r>
            <a:endParaRPr lang="en-US" sz="985" dirty="0"/>
          </a:p>
        </p:txBody>
      </p:sp>
      <p:sp>
        <p:nvSpPr>
          <p:cNvPr id="9" name="Text 3"/>
          <p:cNvSpPr/>
          <p:nvPr/>
        </p:nvSpPr>
        <p:spPr>
          <a:xfrm>
            <a:off x="603647" y="3295055"/>
            <a:ext cx="3796903" cy="342900"/>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模拟种植商(Org1)、加工商(Org2)及物流商等多方参与，构建联盟链共识基础。</a:t>
            </a:r>
            <a:endParaRPr lang="en-US" sz="835" dirty="0"/>
          </a:p>
        </p:txBody>
      </p:sp>
      <p:pic>
        <p:nvPicPr>
          <p:cNvPr id="10" name="Image 3" descr="preencoded.png"/>
          <p:cNvPicPr>
            <a:picLocks noChangeAspect="1"/>
          </p:cNvPicPr>
          <p:nvPr/>
        </p:nvPicPr>
        <p:blipFill>
          <a:blip r:embed="rId4"/>
          <a:stretch>
            <a:fillRect/>
          </a:stretch>
        </p:blipFill>
        <p:spPr>
          <a:xfrm>
            <a:off x="357188" y="3809405"/>
            <a:ext cx="178594" cy="157163"/>
          </a:xfrm>
          <a:prstGeom prst="rect">
            <a:avLst/>
          </a:prstGeom>
        </p:spPr>
      </p:pic>
      <p:sp>
        <p:nvSpPr>
          <p:cNvPr id="11" name="Text 4"/>
          <p:cNvSpPr/>
          <p:nvPr/>
        </p:nvSpPr>
        <p:spPr>
          <a:xfrm>
            <a:off x="621506" y="3809405"/>
            <a:ext cx="3543300"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Merriweather" pitchFamily="34" charset="0"/>
                <a:ea typeface="Merriweather" pitchFamily="34" charset="-122"/>
                <a:cs typeface="Merriweather" pitchFamily="34" charset="-120"/>
              </a:rPr>
              <a:t>Channel 隐私隔离</a:t>
            </a:r>
            <a:endParaRPr lang="en-US" sz="985" dirty="0"/>
          </a:p>
        </p:txBody>
      </p:sp>
      <p:sp>
        <p:nvSpPr>
          <p:cNvPr id="12" name="Text 5"/>
          <p:cNvSpPr/>
          <p:nvPr/>
        </p:nvSpPr>
        <p:spPr>
          <a:xfrm>
            <a:off x="621506" y="4052292"/>
            <a:ext cx="3543300" cy="171450"/>
          </a:xfrm>
          <a:prstGeom prst="rect">
            <a:avLst/>
          </a:prstGeom>
          <a:noFill/>
        </p:spPr>
        <p:txBody>
          <a:bodyPr wrap="non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利用通道技术实现不同业务数据的逻辑隔离，保障敏感信息的安全性。</a:t>
            </a:r>
            <a:endParaRPr lang="en-US" sz="835" dirty="0"/>
          </a:p>
        </p:txBody>
      </p:sp>
      <p:pic>
        <p:nvPicPr>
          <p:cNvPr id="13" name="Image 4" descr="preencoded.png"/>
          <p:cNvPicPr>
            <a:picLocks noChangeAspect="1"/>
          </p:cNvPicPr>
          <p:nvPr/>
        </p:nvPicPr>
        <p:blipFill>
          <a:blip r:embed="rId5"/>
          <a:stretch>
            <a:fillRect/>
          </a:stretch>
        </p:blipFill>
        <p:spPr>
          <a:xfrm>
            <a:off x="5122069" y="1064419"/>
            <a:ext cx="3286125" cy="1571625"/>
          </a:xfrm>
          <a:prstGeom prst="rect">
            <a:avLst/>
          </a:prstGeom>
        </p:spPr>
      </p:pic>
      <p:sp>
        <p:nvSpPr>
          <p:cNvPr id="14" name="Text 6"/>
          <p:cNvSpPr/>
          <p:nvPr/>
        </p:nvSpPr>
        <p:spPr>
          <a:xfrm>
            <a:off x="6015038" y="2721769"/>
            <a:ext cx="1500188" cy="144661"/>
          </a:xfrm>
          <a:prstGeom prst="rect">
            <a:avLst/>
          </a:prstGeom>
          <a:noFill/>
        </p:spPr>
        <p:txBody>
          <a:bodyPr wrap="none" lIns="0" tIns="0" rIns="0" bIns="0" rtlCol="0" anchor="t">
            <a:spAutoFit/>
          </a:bodyPr>
          <a:lstStyle/>
          <a:p>
            <a:pPr marL="0" indent="0" algn="l">
              <a:lnSpc>
                <a:spcPts val="900"/>
              </a:lnSpc>
              <a:buNone/>
            </a:pPr>
            <a:r>
              <a:rPr lang="en-US" sz="725" i="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图：区块链网络节点启动运行状态</a:t>
            </a:r>
            <a:endParaRPr lang="en-US" sz="725" dirty="0"/>
          </a:p>
        </p:txBody>
      </p:sp>
      <p:pic>
        <p:nvPicPr>
          <p:cNvPr id="15" name="Image 5" descr="preencoded.png"/>
          <p:cNvPicPr>
            <a:picLocks noChangeAspect="1"/>
          </p:cNvPicPr>
          <p:nvPr/>
        </p:nvPicPr>
        <p:blipFill>
          <a:blip r:embed="rId6"/>
          <a:stretch>
            <a:fillRect/>
          </a:stretch>
        </p:blipFill>
        <p:spPr>
          <a:xfrm>
            <a:off x="4743450" y="3052167"/>
            <a:ext cx="142875" cy="157163"/>
          </a:xfrm>
          <a:prstGeom prst="rect">
            <a:avLst/>
          </a:prstGeom>
        </p:spPr>
      </p:pic>
      <p:sp>
        <p:nvSpPr>
          <p:cNvPr id="16" name="Text 7"/>
          <p:cNvSpPr/>
          <p:nvPr/>
        </p:nvSpPr>
        <p:spPr>
          <a:xfrm>
            <a:off x="4972050" y="3052167"/>
            <a:ext cx="3814763"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Merriweather" pitchFamily="34" charset="0"/>
                <a:ea typeface="Merriweather" pitchFamily="34" charset="-122"/>
                <a:cs typeface="Merriweather" pitchFamily="34" charset="-120"/>
              </a:rPr>
              <a:t>部署环境与状态</a:t>
            </a:r>
            <a:endParaRPr lang="en-US" sz="985" dirty="0"/>
          </a:p>
        </p:txBody>
      </p:sp>
      <p:sp>
        <p:nvSpPr>
          <p:cNvPr id="17" name="Text 8"/>
          <p:cNvSpPr/>
          <p:nvPr/>
        </p:nvSpPr>
        <p:spPr>
          <a:xfrm>
            <a:off x="4972050" y="3295055"/>
            <a:ext cx="3814763" cy="342900"/>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基于 Ubuntu + Docker 容器化部署，成功启动 Orderer 共识节点与 Peer 节点。</a:t>
            </a:r>
            <a:endParaRPr lang="en-US" sz="835" dirty="0"/>
          </a:p>
        </p:txBody>
      </p:sp>
      <p:pic>
        <p:nvPicPr>
          <p:cNvPr id="18" name="Image 6" descr="preencoded.png"/>
          <p:cNvPicPr>
            <a:picLocks noChangeAspect="1"/>
          </p:cNvPicPr>
          <p:nvPr/>
        </p:nvPicPr>
        <p:blipFill>
          <a:blip r:embed="rId7"/>
          <a:stretch>
            <a:fillRect/>
          </a:stretch>
        </p:blipFill>
        <p:spPr>
          <a:xfrm>
            <a:off x="4743450" y="3809405"/>
            <a:ext cx="125016" cy="157163"/>
          </a:xfrm>
          <a:prstGeom prst="rect">
            <a:avLst/>
          </a:prstGeom>
        </p:spPr>
      </p:pic>
      <p:sp>
        <p:nvSpPr>
          <p:cNvPr id="19" name="Text 9"/>
          <p:cNvSpPr/>
          <p:nvPr/>
        </p:nvSpPr>
        <p:spPr>
          <a:xfrm>
            <a:off x="4954191" y="3809405"/>
            <a:ext cx="3832622"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Merriweather" pitchFamily="34" charset="0"/>
                <a:ea typeface="Merriweather" pitchFamily="34" charset="-122"/>
                <a:cs typeface="Merriweather" pitchFamily="34" charset="-120"/>
              </a:rPr>
              <a:t>链码实例化</a:t>
            </a:r>
            <a:endParaRPr lang="en-US" sz="985" dirty="0"/>
          </a:p>
        </p:txBody>
      </p:sp>
      <p:sp>
        <p:nvSpPr>
          <p:cNvPr id="20" name="Text 10"/>
          <p:cNvSpPr/>
          <p:nvPr/>
        </p:nvSpPr>
        <p:spPr>
          <a:xfrm>
            <a:off x="4954191" y="4052292"/>
            <a:ext cx="3832622" cy="342900"/>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溯源合约（Chaincode）在各组织节点成功实例化，具备处理交易请求的能力。</a:t>
            </a:r>
            <a:endParaRPr lang="en-US" sz="83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57150" y="57150"/>
            <a:ext cx="9029700" cy="5143500"/>
          </a:xfrm>
          <a:prstGeom prst="rect">
            <a:avLst/>
          </a:prstGeom>
        </p:spPr>
      </p:pic>
      <p:sp>
        <p:nvSpPr>
          <p:cNvPr id="4" name="Text 0"/>
          <p:cNvSpPr/>
          <p:nvPr/>
        </p:nvSpPr>
        <p:spPr>
          <a:xfrm>
            <a:off x="628650" y="485775"/>
            <a:ext cx="8572500" cy="414338"/>
          </a:xfrm>
          <a:prstGeom prst="rect">
            <a:avLst/>
          </a:prstGeom>
          <a:noFill/>
        </p:spPr>
        <p:txBody>
          <a:bodyPr wrap="none" lIns="0" tIns="0" rIns="0" bIns="0" rtlCol="0" anchor="t">
            <a:spAutoFit/>
          </a:bodyPr>
          <a:lstStyle/>
          <a:p>
            <a:pPr marL="0" indent="0" algn="l">
              <a:lnSpc>
                <a:spcPts val="2700"/>
              </a:lnSpc>
              <a:buNone/>
            </a:pPr>
            <a:r>
              <a:rPr lang="en-US" sz="2015" b="1" dirty="0">
                <a:solidFill>
                  <a:srgbClr val="2E5902"/>
                </a:solidFill>
                <a:latin typeface="Merriweather" pitchFamily="34" charset="0"/>
                <a:ea typeface="Merriweather" pitchFamily="34" charset="-122"/>
                <a:cs typeface="Merriweather" pitchFamily="34" charset="-120"/>
              </a:rPr>
              <a:t>系统实现：Web 管理端与移动端溯源界面</a:t>
            </a:r>
            <a:endParaRPr lang="en-US" sz="2015" dirty="0"/>
          </a:p>
        </p:txBody>
      </p:sp>
      <p:pic>
        <p:nvPicPr>
          <p:cNvPr id="5" name="Image 1" descr="preencoded.png"/>
          <p:cNvPicPr>
            <a:picLocks noChangeAspect="1"/>
          </p:cNvPicPr>
          <p:nvPr/>
        </p:nvPicPr>
        <p:blipFill>
          <a:blip r:embed="rId2"/>
          <a:stretch>
            <a:fillRect/>
          </a:stretch>
        </p:blipFill>
        <p:spPr>
          <a:xfrm>
            <a:off x="628650" y="1178719"/>
            <a:ext cx="3571875" cy="1857375"/>
          </a:xfrm>
          <a:prstGeom prst="rect">
            <a:avLst/>
          </a:prstGeom>
        </p:spPr>
      </p:pic>
      <p:sp>
        <p:nvSpPr>
          <p:cNvPr id="6" name="Text 1"/>
          <p:cNvSpPr/>
          <p:nvPr/>
        </p:nvSpPr>
        <p:spPr>
          <a:xfrm>
            <a:off x="1843088" y="3107531"/>
            <a:ext cx="1143000" cy="207169"/>
          </a:xfrm>
          <a:prstGeom prst="rect">
            <a:avLst/>
          </a:prstGeom>
          <a:noFill/>
        </p:spPr>
        <p:txBody>
          <a:bodyPr wrap="none" lIns="0" tIns="0" rIns="0" bIns="0" rtlCol="0" anchor="t">
            <a:spAutoFit/>
          </a:bodyPr>
          <a:lstStyle/>
          <a:p>
            <a:pPr marL="0" indent="0" algn="ctr">
              <a:lnSpc>
                <a:spcPts val="1400"/>
              </a:lnSpc>
              <a:buNone/>
            </a:pPr>
            <a:r>
              <a:rPr lang="en-US" sz="985" b="1" dirty="0">
                <a:solidFill>
                  <a:srgbClr val="2E5902"/>
                </a:solidFill>
                <a:latin typeface="Merriweather" pitchFamily="34" charset="0"/>
                <a:ea typeface="Merriweather" pitchFamily="34" charset="-122"/>
                <a:cs typeface="Merriweather" pitchFamily="34" charset="-120"/>
              </a:rPr>
              <a:t>企业端管理工作台</a:t>
            </a:r>
            <a:endParaRPr lang="en-US" sz="985" dirty="0"/>
          </a:p>
        </p:txBody>
      </p:sp>
      <p:sp>
        <p:nvSpPr>
          <p:cNvPr id="7" name="Text 2"/>
          <p:cNvSpPr/>
          <p:nvPr/>
        </p:nvSpPr>
        <p:spPr>
          <a:xfrm>
            <a:off x="807244" y="3371850"/>
            <a:ext cx="3214688" cy="280002"/>
          </a:xfrm>
          <a:prstGeom prst="rect">
            <a:avLst/>
          </a:prstGeom>
          <a:noFill/>
        </p:spPr>
        <p:txBody>
          <a:bodyPr wrap="square" lIns="0" tIns="0" rIns="0" bIns="0" rtlCol="0" anchor="t">
            <a:spAutoFit/>
          </a:bodyPr>
          <a:lstStyle/>
          <a:p>
            <a:pPr marL="0" indent="0" algn="ctr">
              <a:lnSpc>
                <a:spcPts val="1100"/>
              </a:lnSpc>
              <a:buNone/>
            </a:pPr>
            <a:r>
              <a:rPr lang="en-US" sz="72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基于 Vue3 + Element Plus 开发，支持种植户、加工商录入阿克苏苹果的施肥、浇水及加工信息，实现数据一键上链。</a:t>
            </a:r>
            <a:endParaRPr lang="en-US" sz="725" dirty="0"/>
          </a:p>
        </p:txBody>
      </p:sp>
      <p:pic>
        <p:nvPicPr>
          <p:cNvPr id="8" name="Image 2" descr="preencoded.png"/>
          <p:cNvPicPr>
            <a:picLocks noChangeAspect="1"/>
          </p:cNvPicPr>
          <p:nvPr/>
        </p:nvPicPr>
        <p:blipFill>
          <a:blip r:embed="rId3"/>
          <a:stretch>
            <a:fillRect/>
          </a:stretch>
        </p:blipFill>
        <p:spPr>
          <a:xfrm>
            <a:off x="4736306" y="1178719"/>
            <a:ext cx="1571625" cy="2428875"/>
          </a:xfrm>
          <a:prstGeom prst="rect">
            <a:avLst/>
          </a:prstGeom>
        </p:spPr>
      </p:pic>
      <p:sp>
        <p:nvSpPr>
          <p:cNvPr id="9" name="Text 3"/>
          <p:cNvSpPr/>
          <p:nvPr/>
        </p:nvSpPr>
        <p:spPr>
          <a:xfrm>
            <a:off x="5022056" y="3679031"/>
            <a:ext cx="1000125" cy="207169"/>
          </a:xfrm>
          <a:prstGeom prst="rect">
            <a:avLst/>
          </a:prstGeom>
          <a:noFill/>
        </p:spPr>
        <p:txBody>
          <a:bodyPr wrap="none" lIns="0" tIns="0" rIns="0" bIns="0" rtlCol="0" anchor="t">
            <a:spAutoFit/>
          </a:bodyPr>
          <a:lstStyle/>
          <a:p>
            <a:pPr marL="0" indent="0" algn="ctr">
              <a:lnSpc>
                <a:spcPts val="1400"/>
              </a:lnSpc>
              <a:buNone/>
            </a:pPr>
            <a:r>
              <a:rPr lang="en-US" sz="985" b="1" dirty="0">
                <a:solidFill>
                  <a:srgbClr val="2E5902"/>
                </a:solidFill>
                <a:latin typeface="Merriweather" pitchFamily="34" charset="0"/>
                <a:ea typeface="Merriweather" pitchFamily="34" charset="-122"/>
                <a:cs typeface="Merriweather" pitchFamily="34" charset="-120"/>
              </a:rPr>
              <a:t>消费者查询首页</a:t>
            </a:r>
            <a:endParaRPr lang="en-US" sz="985" dirty="0"/>
          </a:p>
        </p:txBody>
      </p:sp>
      <p:sp>
        <p:nvSpPr>
          <p:cNvPr id="10" name="Text 4"/>
          <p:cNvSpPr/>
          <p:nvPr/>
        </p:nvSpPr>
        <p:spPr>
          <a:xfrm>
            <a:off x="4629150" y="3943350"/>
            <a:ext cx="1785938" cy="280002"/>
          </a:xfrm>
          <a:prstGeom prst="rect">
            <a:avLst/>
          </a:prstGeom>
          <a:noFill/>
        </p:spPr>
        <p:txBody>
          <a:bodyPr wrap="square" lIns="0" tIns="0" rIns="0" bIns="0" rtlCol="0" anchor="t">
            <a:spAutoFit/>
          </a:bodyPr>
          <a:lstStyle/>
          <a:p>
            <a:pPr marL="0" indent="0" algn="ctr">
              <a:lnSpc>
                <a:spcPts val="1100"/>
              </a:lnSpc>
              <a:buNone/>
            </a:pPr>
            <a:r>
              <a:rPr lang="en-US" sz="72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支持扫码或输入溯源码查询，界面简洁直观，符合农产品消费场景。</a:t>
            </a:r>
            <a:endParaRPr lang="en-US" sz="725" dirty="0"/>
          </a:p>
        </p:txBody>
      </p:sp>
      <p:pic>
        <p:nvPicPr>
          <p:cNvPr id="11" name="Image 3" descr="preencoded.png"/>
          <p:cNvPicPr>
            <a:picLocks noChangeAspect="1"/>
          </p:cNvPicPr>
          <p:nvPr/>
        </p:nvPicPr>
        <p:blipFill>
          <a:blip r:embed="rId4"/>
          <a:stretch>
            <a:fillRect/>
          </a:stretch>
        </p:blipFill>
        <p:spPr>
          <a:xfrm>
            <a:off x="6950869" y="1178719"/>
            <a:ext cx="1571625" cy="2428875"/>
          </a:xfrm>
          <a:prstGeom prst="rect">
            <a:avLst/>
          </a:prstGeom>
        </p:spPr>
      </p:pic>
      <p:sp>
        <p:nvSpPr>
          <p:cNvPr id="12" name="Text 5"/>
          <p:cNvSpPr/>
          <p:nvPr/>
        </p:nvSpPr>
        <p:spPr>
          <a:xfrm>
            <a:off x="7236619" y="3679031"/>
            <a:ext cx="1000125" cy="207169"/>
          </a:xfrm>
          <a:prstGeom prst="rect">
            <a:avLst/>
          </a:prstGeom>
          <a:noFill/>
        </p:spPr>
        <p:txBody>
          <a:bodyPr wrap="none" lIns="0" tIns="0" rIns="0" bIns="0" rtlCol="0" anchor="t">
            <a:spAutoFit/>
          </a:bodyPr>
          <a:lstStyle/>
          <a:p>
            <a:pPr marL="0" indent="0" algn="ctr">
              <a:lnSpc>
                <a:spcPts val="1400"/>
              </a:lnSpc>
              <a:buNone/>
            </a:pPr>
            <a:r>
              <a:rPr lang="en-US" sz="985" b="1" dirty="0">
                <a:solidFill>
                  <a:srgbClr val="2E5902"/>
                </a:solidFill>
                <a:latin typeface="Merriweather" pitchFamily="34" charset="0"/>
                <a:ea typeface="Merriweather" pitchFamily="34" charset="-122"/>
                <a:cs typeface="Merriweather" pitchFamily="34" charset="-120"/>
              </a:rPr>
              <a:t>溯源详情与存证</a:t>
            </a:r>
            <a:endParaRPr lang="en-US" sz="985" dirty="0"/>
          </a:p>
        </p:txBody>
      </p:sp>
      <p:sp>
        <p:nvSpPr>
          <p:cNvPr id="13" name="Text 6"/>
          <p:cNvSpPr/>
          <p:nvPr/>
        </p:nvSpPr>
        <p:spPr>
          <a:xfrm>
            <a:off x="6843713" y="3943350"/>
            <a:ext cx="1785938" cy="280002"/>
          </a:xfrm>
          <a:prstGeom prst="rect">
            <a:avLst/>
          </a:prstGeom>
          <a:noFill/>
        </p:spPr>
        <p:txBody>
          <a:bodyPr wrap="square" lIns="0" tIns="0" rIns="0" bIns="0" rtlCol="0" anchor="t">
            <a:spAutoFit/>
          </a:bodyPr>
          <a:lstStyle/>
          <a:p>
            <a:pPr marL="0" indent="0" algn="ctr">
              <a:lnSpc>
                <a:spcPts val="1100"/>
              </a:lnSpc>
              <a:buNone/>
            </a:pPr>
            <a:r>
              <a:rPr lang="en-US" sz="72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展示全生命周期信息，并显式展示 </a:t>
            </a:r>
            <a:r>
              <a:rPr lang="en-US" sz="6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区块</a:t>
            </a:r>
            <a:r>
              <a:rPr lang="en-US" sz="6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哈希 (TxHash)</a:t>
            </a:r>
            <a:r>
              <a:rPr lang="en-US" sz="72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，增强消费者信任。</a:t>
            </a:r>
            <a:endParaRPr lang="en-US" sz="7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57150" y="57150"/>
            <a:ext cx="9029700" cy="5273873"/>
          </a:xfrm>
          <a:prstGeom prst="rect">
            <a:avLst/>
          </a:prstGeom>
        </p:spPr>
      </p:pic>
      <p:sp>
        <p:nvSpPr>
          <p:cNvPr id="4" name="Text 0"/>
          <p:cNvSpPr/>
          <p:nvPr/>
        </p:nvSpPr>
        <p:spPr>
          <a:xfrm>
            <a:off x="628650" y="485775"/>
            <a:ext cx="8572500" cy="414338"/>
          </a:xfrm>
          <a:prstGeom prst="rect">
            <a:avLst/>
          </a:prstGeom>
          <a:noFill/>
        </p:spPr>
        <p:txBody>
          <a:bodyPr wrap="none" lIns="0" tIns="0" rIns="0" bIns="0" rtlCol="0" anchor="t">
            <a:spAutoFit/>
          </a:bodyPr>
          <a:lstStyle/>
          <a:p>
            <a:pPr marL="0" indent="0" algn="l">
              <a:lnSpc>
                <a:spcPts val="2700"/>
              </a:lnSpc>
              <a:buNone/>
            </a:pPr>
            <a:r>
              <a:rPr lang="en-US" sz="2015" b="1" dirty="0">
                <a:solidFill>
                  <a:srgbClr val="2E5902"/>
                </a:solidFill>
                <a:latin typeface="Merriweather" pitchFamily="34" charset="0"/>
                <a:ea typeface="Merriweather" pitchFamily="34" charset="-122"/>
                <a:cs typeface="Merriweather" pitchFamily="34" charset="-120"/>
              </a:rPr>
              <a:t>阶段性成果：学术论文与知识产权展示</a:t>
            </a:r>
            <a:endParaRPr lang="en-US" sz="2015" dirty="0"/>
          </a:p>
        </p:txBody>
      </p:sp>
      <p:pic>
        <p:nvPicPr>
          <p:cNvPr id="5" name="Image 1" descr="preencoded.png"/>
          <p:cNvPicPr>
            <a:picLocks noChangeAspect="1"/>
          </p:cNvPicPr>
          <p:nvPr/>
        </p:nvPicPr>
        <p:blipFill>
          <a:blip r:embed="rId2"/>
          <a:stretch>
            <a:fillRect/>
          </a:stretch>
        </p:blipFill>
        <p:spPr>
          <a:xfrm>
            <a:off x="628650" y="1238548"/>
            <a:ext cx="128588" cy="171450"/>
          </a:xfrm>
          <a:prstGeom prst="rect">
            <a:avLst/>
          </a:prstGeom>
        </p:spPr>
      </p:pic>
      <p:sp>
        <p:nvSpPr>
          <p:cNvPr id="6" name="Text 1"/>
          <p:cNvSpPr/>
          <p:nvPr/>
        </p:nvSpPr>
        <p:spPr>
          <a:xfrm>
            <a:off x="842963" y="1200150"/>
            <a:ext cx="1028700" cy="248245"/>
          </a:xfrm>
          <a:prstGeom prst="rect">
            <a:avLst/>
          </a:prstGeom>
          <a:noFill/>
        </p:spPr>
        <p:txBody>
          <a:bodyPr wrap="none" lIns="0" tIns="0" rIns="0" bIns="0" rtlCol="0" anchor="t">
            <a:spAutoFit/>
          </a:bodyPr>
          <a:lstStyle/>
          <a:p>
            <a:pPr marL="0" indent="0" algn="l">
              <a:lnSpc>
                <a:spcPts val="1600"/>
              </a:lnSpc>
              <a:buNone/>
            </a:pPr>
            <a:r>
              <a:rPr lang="en-US" sz="1195" b="1" dirty="0">
                <a:solidFill>
                  <a:srgbClr val="2E5902"/>
                </a:solidFill>
                <a:latin typeface="Merriweather" pitchFamily="34" charset="0"/>
                <a:ea typeface="Merriweather" pitchFamily="34" charset="-122"/>
                <a:cs typeface="Merriweather" pitchFamily="34" charset="-120"/>
              </a:rPr>
              <a:t>学术论文发表</a:t>
            </a:r>
            <a:endParaRPr lang="en-US" sz="1195" dirty="0"/>
          </a:p>
        </p:txBody>
      </p:sp>
      <p:sp>
        <p:nvSpPr>
          <p:cNvPr id="7" name="Text 2"/>
          <p:cNvSpPr/>
          <p:nvPr/>
        </p:nvSpPr>
        <p:spPr>
          <a:xfrm>
            <a:off x="1073348" y="1491258"/>
            <a:ext cx="171450" cy="617153"/>
          </a:xfrm>
          <a:prstGeom prst="rect">
            <a:avLst/>
          </a:prstGeom>
          <a:noFill/>
        </p:spPr>
        <p:txBody>
          <a:bodyPr wrap="square" lIns="0" tIns="0" rIns="0" bIns="0" rtlCol="0" anchor="t">
            <a:spAutoFit/>
          </a:bodyPr>
          <a:lstStyle/>
          <a:p>
            <a:pPr marL="0" indent="0" algn="l">
              <a:lnSpc>
                <a:spcPts val="1600"/>
              </a:lnSpc>
              <a:buNone/>
            </a:pPr>
            <a:r>
              <a:rPr lang="en-US" sz="885" b="1"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[已录用]</a:t>
            </a:r>
            <a:endParaRPr lang="en-US" sz="885" dirty="0"/>
          </a:p>
        </p:txBody>
      </p:sp>
      <p:sp>
        <p:nvSpPr>
          <p:cNvPr id="8" name="Text 3"/>
          <p:cNvSpPr/>
          <p:nvPr/>
        </p:nvSpPr>
        <p:spPr>
          <a:xfrm>
            <a:off x="1244798" y="1491258"/>
            <a:ext cx="1584127" cy="822871"/>
          </a:xfrm>
          <a:prstGeom prst="rect">
            <a:avLst/>
          </a:prstGeom>
          <a:noFill/>
        </p:spPr>
        <p:txBody>
          <a:bodyPr wrap="square" lIns="0" tIns="0" rIns="0" bIns="0" rtlCol="0" anchor="t">
            <a:spAutoFit/>
          </a:bodyPr>
          <a:lstStyle/>
          <a:p>
            <a:pPr marL="0" indent="0" algn="l">
              <a:lnSpc>
                <a:spcPts val="16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《可信农产品供应链的区块链构建路径研究》，发表于《安徽农学通报》(CN 34-1148/S)。</a:t>
            </a:r>
            <a:endParaRPr lang="en-US" sz="940" dirty="0"/>
          </a:p>
        </p:txBody>
      </p:sp>
      <p:sp>
        <p:nvSpPr>
          <p:cNvPr id="9" name="Text 4"/>
          <p:cNvSpPr/>
          <p:nvPr/>
        </p:nvSpPr>
        <p:spPr>
          <a:xfrm>
            <a:off x="914400" y="2356991"/>
            <a:ext cx="1914525" cy="617153"/>
          </a:xfrm>
          <a:prstGeom prst="rect">
            <a:avLst/>
          </a:prstGeom>
          <a:noFill/>
        </p:spPr>
        <p:txBody>
          <a:bodyPr wrap="square" lIns="0" tIns="0" rIns="0" bIns="0" rtlCol="0" anchor="t">
            <a:spAutoFit/>
          </a:bodyPr>
          <a:lstStyle/>
          <a:p>
            <a:pPr marL="0" indent="0" algn="l">
              <a:lnSpc>
                <a:spcPts val="16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重点探讨了新疆特色农产品在区块链环境下的可信存证与溯源路径。</a:t>
            </a:r>
            <a:endParaRPr lang="en-US" sz="940" dirty="0"/>
          </a:p>
        </p:txBody>
      </p:sp>
      <p:pic>
        <p:nvPicPr>
          <p:cNvPr id="10" name="Image 2" descr="preencoded.png"/>
          <p:cNvPicPr>
            <a:picLocks noChangeAspect="1"/>
          </p:cNvPicPr>
          <p:nvPr/>
        </p:nvPicPr>
        <p:blipFill>
          <a:blip r:embed="rId3"/>
          <a:stretch>
            <a:fillRect/>
          </a:stretch>
        </p:blipFill>
        <p:spPr>
          <a:xfrm>
            <a:off x="628650" y="3098267"/>
            <a:ext cx="171450" cy="171450"/>
          </a:xfrm>
          <a:prstGeom prst="rect">
            <a:avLst/>
          </a:prstGeom>
        </p:spPr>
      </p:pic>
      <p:sp>
        <p:nvSpPr>
          <p:cNvPr id="11" name="Text 5"/>
          <p:cNvSpPr/>
          <p:nvPr/>
        </p:nvSpPr>
        <p:spPr>
          <a:xfrm>
            <a:off x="885825" y="3059869"/>
            <a:ext cx="1028700" cy="248245"/>
          </a:xfrm>
          <a:prstGeom prst="rect">
            <a:avLst/>
          </a:prstGeom>
          <a:noFill/>
        </p:spPr>
        <p:txBody>
          <a:bodyPr wrap="none" lIns="0" tIns="0" rIns="0" bIns="0" rtlCol="0" anchor="t">
            <a:spAutoFit/>
          </a:bodyPr>
          <a:lstStyle/>
          <a:p>
            <a:pPr marL="0" indent="0" algn="l">
              <a:lnSpc>
                <a:spcPts val="1600"/>
              </a:lnSpc>
              <a:buNone/>
            </a:pPr>
            <a:r>
              <a:rPr lang="en-US" sz="1195" b="1" dirty="0">
                <a:solidFill>
                  <a:srgbClr val="2E5902"/>
                </a:solidFill>
                <a:latin typeface="Merriweather" pitchFamily="34" charset="0"/>
                <a:ea typeface="Merriweather" pitchFamily="34" charset="-122"/>
                <a:cs typeface="Merriweather" pitchFamily="34" charset="-120"/>
              </a:rPr>
              <a:t>知识产权成果</a:t>
            </a:r>
            <a:endParaRPr lang="en-US" sz="1195" dirty="0"/>
          </a:p>
        </p:txBody>
      </p:sp>
      <p:sp>
        <p:nvSpPr>
          <p:cNvPr id="12" name="Text 6"/>
          <p:cNvSpPr/>
          <p:nvPr/>
        </p:nvSpPr>
        <p:spPr>
          <a:xfrm>
            <a:off x="1073348" y="3350977"/>
            <a:ext cx="182389" cy="617153"/>
          </a:xfrm>
          <a:prstGeom prst="rect">
            <a:avLst/>
          </a:prstGeom>
          <a:noFill/>
        </p:spPr>
        <p:txBody>
          <a:bodyPr wrap="square" lIns="0" tIns="0" rIns="0" bIns="0" rtlCol="0" anchor="t">
            <a:spAutoFit/>
          </a:bodyPr>
          <a:lstStyle/>
          <a:p>
            <a:pPr marL="0" indent="0" algn="l">
              <a:lnSpc>
                <a:spcPts val="1600"/>
              </a:lnSpc>
              <a:buNone/>
            </a:pPr>
            <a:r>
              <a:rPr lang="en-US" sz="885" b="1"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[已授权]</a:t>
            </a:r>
            <a:endParaRPr lang="en-US" sz="885" dirty="0"/>
          </a:p>
        </p:txBody>
      </p:sp>
      <p:sp>
        <p:nvSpPr>
          <p:cNvPr id="13" name="Text 7"/>
          <p:cNvSpPr/>
          <p:nvPr/>
        </p:nvSpPr>
        <p:spPr>
          <a:xfrm>
            <a:off x="1255737" y="3350977"/>
            <a:ext cx="1573188" cy="617153"/>
          </a:xfrm>
          <a:prstGeom prst="rect">
            <a:avLst/>
          </a:prstGeom>
          <a:noFill/>
        </p:spPr>
        <p:txBody>
          <a:bodyPr wrap="square" lIns="0" tIns="0" rIns="0" bIns="0" rtlCol="0" anchor="t">
            <a:spAutoFit/>
          </a:bodyPr>
          <a:lstStyle/>
          <a:p>
            <a:pPr marL="0" indent="0" algn="l">
              <a:lnSpc>
                <a:spcPts val="16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软件著作权：《网络调试助手系统软件》(登记号：2024R11L2936658)。</a:t>
            </a:r>
            <a:endParaRPr lang="en-US" sz="940" dirty="0"/>
          </a:p>
        </p:txBody>
      </p:sp>
      <p:sp>
        <p:nvSpPr>
          <p:cNvPr id="14" name="Text 8"/>
          <p:cNvSpPr/>
          <p:nvPr/>
        </p:nvSpPr>
        <p:spPr>
          <a:xfrm>
            <a:off x="1073348" y="4010992"/>
            <a:ext cx="197067" cy="617153"/>
          </a:xfrm>
          <a:prstGeom prst="rect">
            <a:avLst/>
          </a:prstGeom>
          <a:noFill/>
        </p:spPr>
        <p:txBody>
          <a:bodyPr wrap="square" lIns="0" tIns="0" rIns="0" bIns="0" rtlCol="0" anchor="t">
            <a:spAutoFit/>
          </a:bodyPr>
          <a:lstStyle/>
          <a:p>
            <a:pPr marL="0" indent="0" algn="l">
              <a:lnSpc>
                <a:spcPts val="1600"/>
              </a:lnSpc>
              <a:buNone/>
            </a:pPr>
            <a:r>
              <a:rPr lang="en-US" sz="885" b="1"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[待审查]</a:t>
            </a:r>
            <a:endParaRPr lang="en-US" sz="885" dirty="0"/>
          </a:p>
        </p:txBody>
      </p:sp>
      <p:sp>
        <p:nvSpPr>
          <p:cNvPr id="15" name="Text 9"/>
          <p:cNvSpPr/>
          <p:nvPr/>
        </p:nvSpPr>
        <p:spPr>
          <a:xfrm>
            <a:off x="1270415" y="4010992"/>
            <a:ext cx="1558510" cy="617153"/>
          </a:xfrm>
          <a:prstGeom prst="rect">
            <a:avLst/>
          </a:prstGeom>
          <a:noFill/>
        </p:spPr>
        <p:txBody>
          <a:bodyPr wrap="square" lIns="0" tIns="0" rIns="0" bIns="0" rtlCol="0" anchor="t">
            <a:spAutoFit/>
          </a:bodyPr>
          <a:lstStyle/>
          <a:p>
            <a:pPr marL="0" indent="0" algn="l">
              <a:lnSpc>
                <a:spcPts val="16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软件著作权：《支持国密算法的农业供应链区块链溯源管理系统》。</a:t>
            </a:r>
            <a:endParaRPr lang="en-US" sz="940" dirty="0"/>
          </a:p>
        </p:txBody>
      </p:sp>
      <p:sp>
        <p:nvSpPr>
          <p:cNvPr id="16" name="Text 10"/>
          <p:cNvSpPr/>
          <p:nvPr/>
        </p:nvSpPr>
        <p:spPr>
          <a:xfrm>
            <a:off x="1073348" y="4671008"/>
            <a:ext cx="283992" cy="617153"/>
          </a:xfrm>
          <a:prstGeom prst="rect">
            <a:avLst/>
          </a:prstGeom>
          <a:noFill/>
        </p:spPr>
        <p:txBody>
          <a:bodyPr wrap="square" lIns="0" tIns="0" rIns="0" bIns="0" rtlCol="0" anchor="t">
            <a:spAutoFit/>
          </a:bodyPr>
          <a:lstStyle/>
          <a:p>
            <a:pPr marL="0" indent="0" algn="l">
              <a:lnSpc>
                <a:spcPts val="1600"/>
              </a:lnSpc>
              <a:buNone/>
            </a:pPr>
            <a:r>
              <a:rPr lang="en-US" sz="885" b="1"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[待审查]</a:t>
            </a:r>
            <a:endParaRPr lang="en-US" sz="885" dirty="0"/>
          </a:p>
        </p:txBody>
      </p:sp>
      <p:sp>
        <p:nvSpPr>
          <p:cNvPr id="17" name="Text 11"/>
          <p:cNvSpPr/>
          <p:nvPr/>
        </p:nvSpPr>
        <p:spPr>
          <a:xfrm>
            <a:off x="1357340" y="4671008"/>
            <a:ext cx="1471585" cy="411435"/>
          </a:xfrm>
          <a:prstGeom prst="rect">
            <a:avLst/>
          </a:prstGeom>
          <a:noFill/>
        </p:spPr>
        <p:txBody>
          <a:bodyPr wrap="square" lIns="0" tIns="0" rIns="0" bIns="0" rtlCol="0" anchor="t">
            <a:spAutoFit/>
          </a:bodyPr>
          <a:lstStyle/>
          <a:p>
            <a:pPr marL="0" indent="0" algn="l">
              <a:lnSpc>
                <a:spcPts val="1600"/>
              </a:lnSpc>
              <a:buNone/>
            </a:pPr>
            <a:r>
              <a:rPr lang="en-US" sz="940"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实用新型专利：《一种农业种植浇水装置》。</a:t>
            </a:r>
            <a:endParaRPr lang="en-US" sz="940" dirty="0"/>
          </a:p>
        </p:txBody>
      </p:sp>
      <p:pic>
        <p:nvPicPr>
          <p:cNvPr id="18" name="Image 3" descr="preencoded.png"/>
          <p:cNvPicPr>
            <a:picLocks noChangeAspect="1"/>
          </p:cNvPicPr>
          <p:nvPr/>
        </p:nvPicPr>
        <p:blipFill>
          <a:blip r:embed="rId4"/>
          <a:stretch>
            <a:fillRect/>
          </a:stretch>
        </p:blipFill>
        <p:spPr>
          <a:xfrm>
            <a:off x="3114675" y="1228725"/>
            <a:ext cx="2286000" cy="1071563"/>
          </a:xfrm>
          <a:prstGeom prst="rect">
            <a:avLst/>
          </a:prstGeom>
        </p:spPr>
      </p:pic>
      <p:sp>
        <p:nvSpPr>
          <p:cNvPr id="19" name="Text 12"/>
          <p:cNvSpPr/>
          <p:nvPr/>
        </p:nvSpPr>
        <p:spPr>
          <a:xfrm>
            <a:off x="3707606" y="2371725"/>
            <a:ext cx="1100138" cy="144661"/>
          </a:xfrm>
          <a:prstGeom prst="rect">
            <a:avLst/>
          </a:prstGeom>
          <a:noFill/>
        </p:spPr>
        <p:txBody>
          <a:bodyPr wrap="none" lIns="0" tIns="0" rIns="0" bIns="0" rtlCol="0" anchor="t">
            <a:spAutoFit/>
          </a:bodyPr>
          <a:lstStyle/>
          <a:p>
            <a:pPr marL="0" indent="0" algn="ctr">
              <a:lnSpc>
                <a:spcPts val="900"/>
              </a:lnSpc>
              <a:buNone/>
            </a:pPr>
            <a:r>
              <a:rPr lang="en-US" sz="725"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图：学术论文录用通知书</a:t>
            </a:r>
            <a:endParaRPr lang="en-US" sz="725" dirty="0"/>
          </a:p>
        </p:txBody>
      </p:sp>
      <p:pic>
        <p:nvPicPr>
          <p:cNvPr id="20" name="Image 4" descr="preencoded.png"/>
          <p:cNvPicPr>
            <a:picLocks noChangeAspect="1"/>
          </p:cNvPicPr>
          <p:nvPr/>
        </p:nvPicPr>
        <p:blipFill>
          <a:blip r:embed="rId5"/>
          <a:stretch>
            <a:fillRect/>
          </a:stretch>
        </p:blipFill>
        <p:spPr>
          <a:xfrm>
            <a:off x="6057900" y="1228725"/>
            <a:ext cx="2286000" cy="1071563"/>
          </a:xfrm>
          <a:prstGeom prst="rect">
            <a:avLst/>
          </a:prstGeom>
        </p:spPr>
      </p:pic>
      <p:sp>
        <p:nvSpPr>
          <p:cNvPr id="21" name="Text 13"/>
          <p:cNvSpPr/>
          <p:nvPr/>
        </p:nvSpPr>
        <p:spPr>
          <a:xfrm>
            <a:off x="6550819" y="2371725"/>
            <a:ext cx="1300163" cy="144661"/>
          </a:xfrm>
          <a:prstGeom prst="rect">
            <a:avLst/>
          </a:prstGeom>
          <a:noFill/>
        </p:spPr>
        <p:txBody>
          <a:bodyPr wrap="none" lIns="0" tIns="0" rIns="0" bIns="0" rtlCol="0" anchor="t">
            <a:spAutoFit/>
          </a:bodyPr>
          <a:lstStyle/>
          <a:p>
            <a:pPr marL="0" indent="0" algn="ctr">
              <a:lnSpc>
                <a:spcPts val="900"/>
              </a:lnSpc>
              <a:buNone/>
            </a:pPr>
            <a:r>
              <a:rPr lang="en-US" sz="725" dirty="0">
                <a:solidFill>
                  <a:srgbClr val="88B04B"/>
                </a:solidFill>
                <a:latin typeface="Open Sans" panose="020B0606030504020204" pitchFamily="34" charset="0"/>
                <a:ea typeface="Open Sans" panose="020B0606030504020204" pitchFamily="34" charset="-122"/>
                <a:cs typeface="Open Sans" panose="020B0606030504020204" pitchFamily="34" charset="-120"/>
              </a:rPr>
              <a:t>图：已获授权软件著作权证书</a:t>
            </a:r>
            <a:endParaRPr lang="en-US" sz="7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7144" y="-7144"/>
            <a:ext cx="9158288" cy="5143500"/>
          </a:xfrm>
          <a:prstGeom prst="rect">
            <a:avLst/>
          </a:prstGeom>
        </p:spPr>
      </p:pic>
      <p:sp>
        <p:nvSpPr>
          <p:cNvPr id="4" name="Text 0"/>
          <p:cNvSpPr/>
          <p:nvPr/>
        </p:nvSpPr>
        <p:spPr>
          <a:xfrm>
            <a:off x="564356" y="421481"/>
            <a:ext cx="8572500" cy="414338"/>
          </a:xfrm>
          <a:prstGeom prst="rect">
            <a:avLst/>
          </a:prstGeom>
          <a:noFill/>
        </p:spPr>
        <p:txBody>
          <a:bodyPr wrap="none" lIns="0" tIns="0" rIns="0" bIns="0" rtlCol="0" anchor="t">
            <a:spAutoFit/>
          </a:bodyPr>
          <a:lstStyle/>
          <a:p>
            <a:pPr marL="0" indent="0" algn="l">
              <a:lnSpc>
                <a:spcPts val="2700"/>
              </a:lnSpc>
              <a:buNone/>
            </a:pPr>
            <a:r>
              <a:rPr lang="en-US" sz="2015" b="1" dirty="0">
                <a:solidFill>
                  <a:srgbClr val="2E5902"/>
                </a:solidFill>
                <a:latin typeface="Merriweather" pitchFamily="34" charset="0"/>
                <a:ea typeface="Merriweather" pitchFamily="34" charset="-122"/>
                <a:cs typeface="Merriweather" pitchFamily="34" charset="-120"/>
              </a:rPr>
              <a:t>存在问题与下一步计划：持续优化与论文撰写</a:t>
            </a:r>
            <a:endParaRPr lang="en-US" sz="2015" dirty="0"/>
          </a:p>
        </p:txBody>
      </p:sp>
      <p:pic>
        <p:nvPicPr>
          <p:cNvPr id="5" name="Image 1" descr="preencoded.png"/>
          <p:cNvPicPr>
            <a:picLocks noChangeAspect="1"/>
          </p:cNvPicPr>
          <p:nvPr/>
        </p:nvPicPr>
        <p:blipFill>
          <a:blip r:embed="rId2"/>
          <a:stretch>
            <a:fillRect/>
          </a:stretch>
        </p:blipFill>
        <p:spPr>
          <a:xfrm>
            <a:off x="564356" y="1244798"/>
            <a:ext cx="200025" cy="200025"/>
          </a:xfrm>
          <a:prstGeom prst="rect">
            <a:avLst/>
          </a:prstGeom>
        </p:spPr>
      </p:pic>
      <p:sp>
        <p:nvSpPr>
          <p:cNvPr id="6" name="Text 1"/>
          <p:cNvSpPr/>
          <p:nvPr/>
        </p:nvSpPr>
        <p:spPr>
          <a:xfrm>
            <a:off x="871538" y="1200150"/>
            <a:ext cx="1200150" cy="289322"/>
          </a:xfrm>
          <a:prstGeom prst="rect">
            <a:avLst/>
          </a:prstGeom>
          <a:noFill/>
        </p:spPr>
        <p:txBody>
          <a:bodyPr wrap="none" lIns="0" tIns="0" rIns="0" bIns="0" rtlCol="0" anchor="t">
            <a:spAutoFit/>
          </a:bodyPr>
          <a:lstStyle/>
          <a:p>
            <a:pPr marL="0" indent="0" algn="l">
              <a:lnSpc>
                <a:spcPts val="1900"/>
              </a:lnSpc>
              <a:buNone/>
            </a:pPr>
            <a:r>
              <a:rPr lang="en-US" sz="1485" dirty="0">
                <a:solidFill>
                  <a:srgbClr val="2E5902"/>
                </a:solidFill>
                <a:latin typeface="Merriweather" pitchFamily="34" charset="0"/>
                <a:ea typeface="Merriweather" pitchFamily="34" charset="-122"/>
                <a:cs typeface="Merriweather" pitchFamily="34" charset="-120"/>
              </a:rPr>
              <a:t>当前主要问题</a:t>
            </a:r>
            <a:endParaRPr lang="en-US" sz="1485" dirty="0"/>
          </a:p>
        </p:txBody>
      </p:sp>
      <p:sp>
        <p:nvSpPr>
          <p:cNvPr id="7" name="Text 2"/>
          <p:cNvSpPr/>
          <p:nvPr/>
        </p:nvSpPr>
        <p:spPr>
          <a:xfrm>
            <a:off x="564356" y="1618059"/>
            <a:ext cx="3707606"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大规模并发性能未知</a:t>
            </a:r>
            <a:endParaRPr lang="en-US" sz="985" dirty="0"/>
          </a:p>
        </p:txBody>
      </p:sp>
      <p:sp>
        <p:nvSpPr>
          <p:cNvPr id="8" name="Text 3"/>
          <p:cNvSpPr/>
          <p:nvPr/>
        </p:nvSpPr>
        <p:spPr>
          <a:xfrm>
            <a:off x="564356" y="1939528"/>
            <a:ext cx="3707606" cy="365727"/>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目前测试主要在实验室小规模节点下进行，针对高并发场景的性能瓶颈尚未量化。</a:t>
            </a:r>
            <a:endParaRPr lang="en-US" sz="835" dirty="0"/>
          </a:p>
        </p:txBody>
      </p:sp>
      <p:sp>
        <p:nvSpPr>
          <p:cNvPr id="9" name="Text 4"/>
          <p:cNvSpPr/>
          <p:nvPr/>
        </p:nvSpPr>
        <p:spPr>
          <a:xfrm>
            <a:off x="564356" y="2419555"/>
            <a:ext cx="3707606"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SDK 集成深度不足</a:t>
            </a:r>
            <a:endParaRPr lang="en-US" sz="985" dirty="0"/>
          </a:p>
        </p:txBody>
      </p:sp>
      <p:sp>
        <p:nvSpPr>
          <p:cNvPr id="10" name="Text 5"/>
          <p:cNvSpPr/>
          <p:nvPr/>
        </p:nvSpPr>
        <p:spPr>
          <a:xfrm>
            <a:off x="564356" y="2741023"/>
            <a:ext cx="3707606" cy="365727"/>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应用层 SDK 对国密算法的封装不够平滑，开发效率及系统稳定性仍有提升空间。</a:t>
            </a:r>
            <a:endParaRPr lang="en-US" sz="835" dirty="0"/>
          </a:p>
        </p:txBody>
      </p:sp>
      <p:sp>
        <p:nvSpPr>
          <p:cNvPr id="11" name="Text 6"/>
          <p:cNvSpPr/>
          <p:nvPr/>
        </p:nvSpPr>
        <p:spPr>
          <a:xfrm>
            <a:off x="564356" y="3221050"/>
            <a:ext cx="3707606" cy="207169"/>
          </a:xfrm>
          <a:prstGeom prst="rect">
            <a:avLst/>
          </a:prstGeom>
          <a:noFill/>
        </p:spPr>
        <p:txBody>
          <a:bodyPr wrap="none" lIns="0" tIns="0" rIns="0" bIns="0" rtlCol="0" anchor="t">
            <a:spAutoFit/>
          </a:bodyPr>
          <a:lstStyle/>
          <a:p>
            <a:pPr marL="0" indent="0" algn="l">
              <a:lnSpc>
                <a:spcPts val="1400"/>
              </a:lnSpc>
              <a:buNone/>
            </a:pPr>
            <a:r>
              <a:rPr lang="en-US" sz="9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监管功能尚待完善</a:t>
            </a:r>
            <a:endParaRPr lang="en-US" sz="985" dirty="0"/>
          </a:p>
        </p:txBody>
      </p:sp>
      <p:sp>
        <p:nvSpPr>
          <p:cNvPr id="12" name="Text 7"/>
          <p:cNvSpPr/>
          <p:nvPr/>
        </p:nvSpPr>
        <p:spPr>
          <a:xfrm>
            <a:off x="564356" y="3542519"/>
            <a:ext cx="3707606" cy="365727"/>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针对监管部门的数据审计与预警功能目前仅有雏形，缺乏直观的可视化展示。</a:t>
            </a:r>
            <a:endParaRPr lang="en-US" sz="835" dirty="0"/>
          </a:p>
        </p:txBody>
      </p:sp>
      <p:pic>
        <p:nvPicPr>
          <p:cNvPr id="13" name="Image 2" descr="preencoded.png"/>
          <p:cNvPicPr>
            <a:picLocks noChangeAspect="1"/>
          </p:cNvPicPr>
          <p:nvPr/>
        </p:nvPicPr>
        <p:blipFill>
          <a:blip r:embed="rId3"/>
          <a:stretch>
            <a:fillRect/>
          </a:stretch>
        </p:blipFill>
        <p:spPr>
          <a:xfrm>
            <a:off x="4857750" y="1244798"/>
            <a:ext cx="175022" cy="200025"/>
          </a:xfrm>
          <a:prstGeom prst="rect">
            <a:avLst/>
          </a:prstGeom>
        </p:spPr>
      </p:pic>
      <p:sp>
        <p:nvSpPr>
          <p:cNvPr id="14" name="Text 8"/>
          <p:cNvSpPr/>
          <p:nvPr/>
        </p:nvSpPr>
        <p:spPr>
          <a:xfrm>
            <a:off x="5139928" y="1200150"/>
            <a:ext cx="1400175" cy="289322"/>
          </a:xfrm>
          <a:prstGeom prst="rect">
            <a:avLst/>
          </a:prstGeom>
          <a:noFill/>
        </p:spPr>
        <p:txBody>
          <a:bodyPr wrap="none" lIns="0" tIns="0" rIns="0" bIns="0" rtlCol="0" anchor="t">
            <a:spAutoFit/>
          </a:bodyPr>
          <a:lstStyle/>
          <a:p>
            <a:pPr marL="0" indent="0" algn="l">
              <a:lnSpc>
                <a:spcPts val="1900"/>
              </a:lnSpc>
              <a:buNone/>
            </a:pPr>
            <a:r>
              <a:rPr lang="en-US" sz="1485" dirty="0">
                <a:solidFill>
                  <a:srgbClr val="2E5902"/>
                </a:solidFill>
                <a:latin typeface="Merriweather" pitchFamily="34" charset="0"/>
                <a:ea typeface="Merriweather" pitchFamily="34" charset="-122"/>
                <a:cs typeface="Merriweather" pitchFamily="34" charset="-120"/>
              </a:rPr>
              <a:t>下一步研究计划</a:t>
            </a:r>
            <a:endParaRPr lang="en-US" sz="1485" dirty="0"/>
          </a:p>
        </p:txBody>
      </p:sp>
      <p:sp>
        <p:nvSpPr>
          <p:cNvPr id="15" name="Shape 9"/>
          <p:cNvSpPr/>
          <p:nvPr/>
        </p:nvSpPr>
        <p:spPr>
          <a:xfrm>
            <a:off x="4857750" y="1618059"/>
            <a:ext cx="741164" cy="192881"/>
          </a:xfrm>
          <a:prstGeom prst="rect">
            <a:avLst/>
          </a:prstGeom>
          <a:solidFill>
            <a:srgbClr val="2E5902"/>
          </a:solidFill>
        </p:spPr>
      </p:sp>
      <p:sp>
        <p:nvSpPr>
          <p:cNvPr id="16" name="Text 10"/>
          <p:cNvSpPr/>
          <p:nvPr/>
        </p:nvSpPr>
        <p:spPr>
          <a:xfrm>
            <a:off x="4857750" y="1618059"/>
            <a:ext cx="741164" cy="192881"/>
          </a:xfrm>
          <a:prstGeom prst="rect">
            <a:avLst/>
          </a:prstGeom>
          <a:noFill/>
        </p:spPr>
        <p:txBody>
          <a:bodyPr wrap="square" lIns="102108" tIns="34036" rIns="102108" bIns="34036" rtlCol="0" anchor="t">
            <a:spAutoFit/>
          </a:bodyPr>
          <a:lstStyle/>
          <a:p>
            <a:pPr marL="0" indent="0" algn="l">
              <a:lnSpc>
                <a:spcPts val="900"/>
              </a:lnSpc>
              <a:buNone/>
            </a:pPr>
            <a:r>
              <a:rPr lang="en-US" sz="685" b="1" dirty="0">
                <a:solidFill>
                  <a:srgbClr val="FFFFFF"/>
                </a:solidFill>
                <a:latin typeface="Open Sans" panose="020B0606030504020204" pitchFamily="34" charset="0"/>
                <a:ea typeface="Open Sans" panose="020B0606030504020204" pitchFamily="34" charset="-122"/>
                <a:cs typeface="Open Sans" panose="020B0606030504020204" pitchFamily="34" charset="-120"/>
              </a:rPr>
              <a:t>2025.11 - 12</a:t>
            </a:r>
            <a:endParaRPr lang="en-US" sz="685" dirty="0"/>
          </a:p>
        </p:txBody>
      </p:sp>
      <p:sp>
        <p:nvSpPr>
          <p:cNvPr id="17" name="Text 11"/>
          <p:cNvSpPr/>
          <p:nvPr/>
        </p:nvSpPr>
        <p:spPr>
          <a:xfrm>
            <a:off x="5706070" y="1618059"/>
            <a:ext cx="2859286" cy="342900"/>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引入 Caliper 进行压力测试，优化共识瓶颈；完善系统全功能集成测试。</a:t>
            </a:r>
            <a:endParaRPr lang="en-US" sz="835" dirty="0"/>
          </a:p>
        </p:txBody>
      </p:sp>
      <p:sp>
        <p:nvSpPr>
          <p:cNvPr id="18" name="Shape 12"/>
          <p:cNvSpPr/>
          <p:nvPr/>
        </p:nvSpPr>
        <p:spPr>
          <a:xfrm>
            <a:off x="4857750" y="2046684"/>
            <a:ext cx="741164" cy="192881"/>
          </a:xfrm>
          <a:prstGeom prst="rect">
            <a:avLst/>
          </a:prstGeom>
          <a:solidFill>
            <a:srgbClr val="2E5902"/>
          </a:solidFill>
        </p:spPr>
      </p:sp>
      <p:sp>
        <p:nvSpPr>
          <p:cNvPr id="19" name="Text 13"/>
          <p:cNvSpPr/>
          <p:nvPr/>
        </p:nvSpPr>
        <p:spPr>
          <a:xfrm>
            <a:off x="4857750" y="2046684"/>
            <a:ext cx="741164" cy="192881"/>
          </a:xfrm>
          <a:prstGeom prst="rect">
            <a:avLst/>
          </a:prstGeom>
          <a:noFill/>
        </p:spPr>
        <p:txBody>
          <a:bodyPr wrap="square" lIns="102108" tIns="34036" rIns="102108" bIns="34036" rtlCol="0" anchor="t">
            <a:spAutoFit/>
          </a:bodyPr>
          <a:lstStyle/>
          <a:p>
            <a:pPr marL="0" indent="0" algn="l">
              <a:lnSpc>
                <a:spcPts val="900"/>
              </a:lnSpc>
              <a:buNone/>
            </a:pPr>
            <a:r>
              <a:rPr lang="en-US" sz="685" b="1" dirty="0">
                <a:solidFill>
                  <a:srgbClr val="FFFFFF"/>
                </a:solidFill>
                <a:latin typeface="Open Sans" panose="020B0606030504020204" pitchFamily="34" charset="0"/>
                <a:ea typeface="Open Sans" panose="020B0606030504020204" pitchFamily="34" charset="-122"/>
                <a:cs typeface="Open Sans" panose="020B0606030504020204" pitchFamily="34" charset="-120"/>
              </a:rPr>
              <a:t>2026.01 - 02</a:t>
            </a:r>
            <a:endParaRPr lang="en-US" sz="685" dirty="0"/>
          </a:p>
        </p:txBody>
      </p:sp>
      <p:sp>
        <p:nvSpPr>
          <p:cNvPr id="20" name="Text 14"/>
          <p:cNvSpPr/>
          <p:nvPr/>
        </p:nvSpPr>
        <p:spPr>
          <a:xfrm>
            <a:off x="5706070" y="2046684"/>
            <a:ext cx="2859286" cy="342900"/>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优化学位论文初稿，重点完善系统设计与国密实现章节，补充实验数据。</a:t>
            </a:r>
            <a:endParaRPr lang="en-US" sz="835" dirty="0"/>
          </a:p>
        </p:txBody>
      </p:sp>
      <p:sp>
        <p:nvSpPr>
          <p:cNvPr id="21" name="Shape 15"/>
          <p:cNvSpPr/>
          <p:nvPr/>
        </p:nvSpPr>
        <p:spPr>
          <a:xfrm>
            <a:off x="4857750" y="2475309"/>
            <a:ext cx="741164" cy="192881"/>
          </a:xfrm>
          <a:prstGeom prst="rect">
            <a:avLst/>
          </a:prstGeom>
          <a:solidFill>
            <a:srgbClr val="2E5902"/>
          </a:solidFill>
        </p:spPr>
      </p:sp>
      <p:sp>
        <p:nvSpPr>
          <p:cNvPr id="22" name="Text 16"/>
          <p:cNvSpPr/>
          <p:nvPr/>
        </p:nvSpPr>
        <p:spPr>
          <a:xfrm>
            <a:off x="4857750" y="2475309"/>
            <a:ext cx="741164" cy="192881"/>
          </a:xfrm>
          <a:prstGeom prst="rect">
            <a:avLst/>
          </a:prstGeom>
          <a:noFill/>
        </p:spPr>
        <p:txBody>
          <a:bodyPr wrap="square" lIns="102108" tIns="34036" rIns="102108" bIns="34036" rtlCol="0" anchor="t">
            <a:spAutoFit/>
          </a:bodyPr>
          <a:lstStyle/>
          <a:p>
            <a:pPr marL="0" indent="0" algn="l">
              <a:lnSpc>
                <a:spcPts val="900"/>
              </a:lnSpc>
              <a:buNone/>
            </a:pPr>
            <a:r>
              <a:rPr lang="en-US" sz="685" b="1" dirty="0">
                <a:solidFill>
                  <a:srgbClr val="FFFFFF"/>
                </a:solidFill>
                <a:latin typeface="Open Sans" panose="020B0606030504020204" pitchFamily="34" charset="0"/>
                <a:ea typeface="Open Sans" panose="020B0606030504020204" pitchFamily="34" charset="-122"/>
                <a:cs typeface="Open Sans" panose="020B0606030504020204" pitchFamily="34" charset="-120"/>
              </a:rPr>
              <a:t>2026.03 - 04</a:t>
            </a:r>
            <a:endParaRPr lang="en-US" sz="685" dirty="0"/>
          </a:p>
        </p:txBody>
      </p:sp>
      <p:sp>
        <p:nvSpPr>
          <p:cNvPr id="23" name="Text 17"/>
          <p:cNvSpPr/>
          <p:nvPr/>
        </p:nvSpPr>
        <p:spPr>
          <a:xfrm>
            <a:off x="5706070" y="2475309"/>
            <a:ext cx="2859286" cy="342900"/>
          </a:xfrm>
          <a:prstGeom prst="rect">
            <a:avLst/>
          </a:prstGeom>
          <a:noFill/>
        </p:spPr>
        <p:txBody>
          <a:bodyPr wrap="squar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论文查重、盲审、准备预答辩；基于 ECharts 开发可视化监管大屏。</a:t>
            </a:r>
            <a:endParaRPr lang="en-US" sz="835" dirty="0"/>
          </a:p>
        </p:txBody>
      </p:sp>
      <p:sp>
        <p:nvSpPr>
          <p:cNvPr id="24" name="Shape 18"/>
          <p:cNvSpPr/>
          <p:nvPr/>
        </p:nvSpPr>
        <p:spPr>
          <a:xfrm>
            <a:off x="4857750" y="2903934"/>
            <a:ext cx="741164" cy="192881"/>
          </a:xfrm>
          <a:prstGeom prst="rect">
            <a:avLst/>
          </a:prstGeom>
          <a:solidFill>
            <a:srgbClr val="2E5902"/>
          </a:solidFill>
        </p:spPr>
      </p:sp>
      <p:sp>
        <p:nvSpPr>
          <p:cNvPr id="25" name="Text 19"/>
          <p:cNvSpPr/>
          <p:nvPr/>
        </p:nvSpPr>
        <p:spPr>
          <a:xfrm>
            <a:off x="4857750" y="2903934"/>
            <a:ext cx="741164" cy="192881"/>
          </a:xfrm>
          <a:prstGeom prst="rect">
            <a:avLst/>
          </a:prstGeom>
          <a:noFill/>
        </p:spPr>
        <p:txBody>
          <a:bodyPr wrap="square" lIns="102108" tIns="34036" rIns="102108" bIns="34036" rtlCol="0" anchor="t">
            <a:spAutoFit/>
          </a:bodyPr>
          <a:lstStyle/>
          <a:p>
            <a:pPr marL="0" indent="0" algn="l">
              <a:lnSpc>
                <a:spcPts val="900"/>
              </a:lnSpc>
              <a:buNone/>
            </a:pPr>
            <a:r>
              <a:rPr lang="en-US" sz="685" b="1" dirty="0">
                <a:solidFill>
                  <a:srgbClr val="FFFFFF"/>
                </a:solidFill>
                <a:latin typeface="Open Sans" panose="020B0606030504020204" pitchFamily="34" charset="0"/>
                <a:ea typeface="Open Sans" panose="020B0606030504020204" pitchFamily="34" charset="-122"/>
                <a:cs typeface="Open Sans" panose="020B0606030504020204" pitchFamily="34" charset="-120"/>
              </a:rPr>
              <a:t>2026.05 - 06</a:t>
            </a:r>
            <a:endParaRPr lang="en-US" sz="685" dirty="0"/>
          </a:p>
        </p:txBody>
      </p:sp>
      <p:sp>
        <p:nvSpPr>
          <p:cNvPr id="26" name="Text 20"/>
          <p:cNvSpPr/>
          <p:nvPr/>
        </p:nvSpPr>
        <p:spPr>
          <a:xfrm>
            <a:off x="5706070" y="2903934"/>
            <a:ext cx="2628900" cy="171450"/>
          </a:xfrm>
          <a:prstGeom prst="rect">
            <a:avLst/>
          </a:prstGeom>
          <a:noFill/>
        </p:spPr>
        <p:txBody>
          <a:bodyPr wrap="none" lIns="0" tIns="0" rIns="0" bIns="0" rtlCol="0" anchor="t">
            <a:spAutoFit/>
          </a:bodyPr>
          <a:lstStyle/>
          <a:p>
            <a:pPr marL="0" indent="0" algn="l">
              <a:lnSpc>
                <a:spcPts val="1400"/>
              </a:lnSpc>
              <a:buNone/>
            </a:pPr>
            <a:r>
              <a:rPr lang="en-US" sz="835" dirty="0">
                <a:solidFill>
                  <a:srgbClr val="4A4A4A"/>
                </a:solidFill>
                <a:latin typeface="Open Sans" panose="020B0606030504020204" pitchFamily="34" charset="0"/>
                <a:ea typeface="Open Sans" panose="020B0606030504020204" pitchFamily="34" charset="-122"/>
                <a:cs typeface="Open Sans" panose="020B0606030504020204" pitchFamily="34" charset="-120"/>
              </a:rPr>
              <a:t>完成论文最终修订，准备并参加硕士学位论文答辩。</a:t>
            </a:r>
            <a:endParaRPr lang="en-US" sz="83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57150" y="57150"/>
            <a:ext cx="9029700" cy="5143500"/>
          </a:xfrm>
          <a:prstGeom prst="rect">
            <a:avLst/>
          </a:prstGeom>
        </p:spPr>
      </p:pic>
      <p:sp>
        <p:nvSpPr>
          <p:cNvPr id="5" name="Text 0"/>
          <p:cNvSpPr/>
          <p:nvPr/>
        </p:nvSpPr>
        <p:spPr>
          <a:xfrm>
            <a:off x="3200400" y="1343025"/>
            <a:ext cx="2857500" cy="826889"/>
          </a:xfrm>
          <a:prstGeom prst="rect">
            <a:avLst/>
          </a:prstGeom>
          <a:noFill/>
        </p:spPr>
        <p:txBody>
          <a:bodyPr wrap="none" lIns="0" tIns="0" rIns="0" bIns="0" rtlCol="0" anchor="t">
            <a:spAutoFit/>
          </a:bodyPr>
          <a:lstStyle/>
          <a:p>
            <a:pPr marL="0" indent="0" algn="ctr">
              <a:lnSpc>
                <a:spcPts val="5400"/>
              </a:lnSpc>
              <a:buNone/>
            </a:pPr>
            <a:r>
              <a:rPr lang="en-US" sz="4145" b="1" dirty="0">
                <a:solidFill>
                  <a:srgbClr val="2E5902"/>
                </a:solidFill>
                <a:latin typeface="Merriweather" pitchFamily="34" charset="0"/>
                <a:ea typeface="Merriweather" pitchFamily="34" charset="-122"/>
                <a:cs typeface="Merriweather" pitchFamily="34" charset="-120"/>
              </a:rPr>
              <a:t>谢谢大家！</a:t>
            </a:r>
            <a:endParaRPr lang="en-US" sz="4145" dirty="0"/>
          </a:p>
        </p:txBody>
      </p:sp>
      <p:sp>
        <p:nvSpPr>
          <p:cNvPr id="6" name="Text 1"/>
          <p:cNvSpPr/>
          <p:nvPr/>
        </p:nvSpPr>
        <p:spPr>
          <a:xfrm>
            <a:off x="3200400" y="2312789"/>
            <a:ext cx="2857500" cy="332184"/>
          </a:xfrm>
          <a:prstGeom prst="rect">
            <a:avLst/>
          </a:prstGeom>
          <a:noFill/>
        </p:spPr>
        <p:txBody>
          <a:bodyPr wrap="none" lIns="0" tIns="0" rIns="0" bIns="0" rtlCol="0" anchor="t">
            <a:spAutoFit/>
          </a:bodyPr>
          <a:lstStyle/>
          <a:p>
            <a:pPr marL="0" indent="0" algn="ctr">
              <a:lnSpc>
                <a:spcPts val="2200"/>
              </a:lnSpc>
              <a:buNone/>
            </a:pPr>
            <a:r>
              <a:rPr lang="en-US" sz="1600" b="1" dirty="0">
                <a:solidFill>
                  <a:srgbClr val="88B04B"/>
                </a:solidFill>
                <a:latin typeface="Open Sans" panose="020B0606030504020204" pitchFamily="34" charset="0"/>
                <a:ea typeface="Open Sans" panose="020B0606030504020204" pitchFamily="34" charset="-122"/>
                <a:cs typeface="Open Sans" panose="020B0606030504020204" pitchFamily="34" charset="-120"/>
              </a:rPr>
              <a:t>请各位专家、老师批评指正</a:t>
            </a:r>
            <a:endParaRPr lang="en-US" sz="1600" dirty="0"/>
          </a:p>
        </p:txBody>
      </p:sp>
      <p:sp>
        <p:nvSpPr>
          <p:cNvPr id="7" name="Text 2"/>
          <p:cNvSpPr/>
          <p:nvPr/>
        </p:nvSpPr>
        <p:spPr>
          <a:xfrm>
            <a:off x="3200400" y="2859286"/>
            <a:ext cx="2857500" cy="248245"/>
          </a:xfrm>
          <a:prstGeom prst="rect">
            <a:avLst/>
          </a:prstGeom>
          <a:noFill/>
        </p:spPr>
        <p:txBody>
          <a:bodyPr wrap="none" lIns="0" tIns="0" rIns="0" bIns="0" rtlCol="0" anchor="t">
            <a:spAutoFit/>
          </a:bodyPr>
          <a:lstStyle/>
          <a:p>
            <a:pPr marL="0" indent="0" algn="ctr">
              <a:lnSpc>
                <a:spcPts val="1600"/>
              </a:lnSpc>
              <a:buNone/>
            </a:pPr>
            <a:r>
              <a:rPr lang="en-US" sz="1270" i="1" dirty="0">
                <a:solidFill>
                  <a:srgbClr val="4A4A4A"/>
                </a:solidFill>
                <a:latin typeface="Open Sans" panose="020B0606030504020204" pitchFamily="34" charset="0"/>
                <a:ea typeface="Open Sans" panose="020B0606030504020204" pitchFamily="34" charset="-122"/>
                <a:cs typeface="Open Sans" panose="020B0606030504020204" pitchFamily="34" charset="-120"/>
              </a:rPr>
              <a:t>“ 用技术守护舌尖上的安全 ”</a:t>
            </a:r>
            <a:endParaRPr lang="en-US" sz="1270" dirty="0"/>
          </a:p>
        </p:txBody>
      </p:sp>
      <p:pic>
        <p:nvPicPr>
          <p:cNvPr id="8" name="Image 2" descr="preencoded.png"/>
          <p:cNvPicPr>
            <a:picLocks noChangeAspect="1"/>
          </p:cNvPicPr>
          <p:nvPr/>
        </p:nvPicPr>
        <p:blipFill>
          <a:blip r:embed="rId2"/>
          <a:stretch>
            <a:fillRect/>
          </a:stretch>
        </p:blipFill>
        <p:spPr>
          <a:xfrm>
            <a:off x="4129088" y="3393281"/>
            <a:ext cx="1000125" cy="1000125"/>
          </a:xfrm>
          <a:prstGeom prst="rect">
            <a:avLst/>
          </a:prstGeom>
        </p:spPr>
      </p:pic>
      <p:sp>
        <p:nvSpPr>
          <p:cNvPr id="9" name="Text 3"/>
          <p:cNvSpPr/>
          <p:nvPr/>
        </p:nvSpPr>
        <p:spPr>
          <a:xfrm>
            <a:off x="3797796" y="4450556"/>
            <a:ext cx="1662708" cy="187523"/>
          </a:xfrm>
          <a:prstGeom prst="rect">
            <a:avLst/>
          </a:prstGeom>
          <a:noFill/>
        </p:spPr>
        <p:txBody>
          <a:bodyPr wrap="none" lIns="0" tIns="0" rIns="0" bIns="0" rtlCol="0" anchor="t">
            <a:spAutoFit/>
          </a:bodyPr>
          <a:lstStyle/>
          <a:p>
            <a:pPr marL="0" indent="0" algn="ctr">
              <a:lnSpc>
                <a:spcPts val="1200"/>
              </a:lnSpc>
              <a:buNone/>
            </a:pPr>
            <a:r>
              <a:rPr lang="en-US" sz="885" b="1" dirty="0">
                <a:solidFill>
                  <a:srgbClr val="2E5902"/>
                </a:solidFill>
                <a:latin typeface="Open Sans" panose="020B0606030504020204" pitchFamily="34" charset="0"/>
                <a:ea typeface="Open Sans" panose="020B0606030504020204" pitchFamily="34" charset="-122"/>
                <a:cs typeface="Open Sans" panose="020B0606030504020204" pitchFamily="34" charset="-120"/>
              </a:rPr>
              <a:t>汇报人：柏小康 | 2026年3月</a:t>
            </a:r>
            <a:endParaRPr lang="en-US" sz="88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2061</Words>
  <Application>WPS 演示</Application>
  <PresentationFormat>On-screen Show (16:9)</PresentationFormat>
  <Paragraphs>218</Paragraphs>
  <Slides>11</Slides>
  <Notes>11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11</vt:i4>
      </vt:variant>
    </vt:vector>
  </HeadingPairs>
  <TitlesOfParts>
    <vt:vector size="26" baseType="lpstr">
      <vt:lpstr>Arial</vt:lpstr>
      <vt:lpstr>宋体</vt:lpstr>
      <vt:lpstr>Wingdings</vt:lpstr>
      <vt:lpstr>Merriweather</vt:lpstr>
      <vt:lpstr>ESRI AMFM Electric</vt:lpstr>
      <vt:lpstr>Merriweather</vt:lpstr>
      <vt:lpstr>Merriweather</vt:lpstr>
      <vt:lpstr>Open Sans</vt:lpstr>
      <vt:lpstr>Open Sans</vt:lpstr>
      <vt:lpstr>Open Sans</vt:lpstr>
      <vt:lpstr>Calibri</vt:lpstr>
      <vt:lpstr>微软雅黑</vt:lpstr>
      <vt:lpstr>Arial Unicode MS</vt:lpstr>
      <vt:lpstr>MingLiU-ExtB</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月白</cp:lastModifiedBy>
  <cp:revision>3</cp:revision>
  <dcterms:created xsi:type="dcterms:W3CDTF">2026-03-04T15:46:00Z</dcterms:created>
  <dcterms:modified xsi:type="dcterms:W3CDTF">2026-03-04T15:49:08Z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56769367364941BBA52C71207F0F2FCC_13</vt:lpwstr>
  </property>
  <property fmtid="{D5CDD505-2E9C-101B-9397-08002B2CF9AE}" pid="3" name="KSOProductBuildVer">
    <vt:lpwstr>2052-12.1.0.25225</vt:lpwstr>
  </property>
</Properties>
</file>